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457200" y="283369"/>
            <a:ext cx="65108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22" sz="1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844413" y="250824"/>
            <a:ext cx="2710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Project: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8242771" y="250824"/>
            <a:ext cx="3981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8262881" y="425698"/>
            <a:ext cx="19483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Date: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8489453" y="425698"/>
            <a:ext cx="1822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2026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7202977" y="600571"/>
            <a:ext cx="2244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Stack: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7502722" y="600571"/>
            <a:ext cx="9544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React + Node.js + WebRTC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8235348" y="775445"/>
            <a:ext cx="2498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Status:</a:t>
            </a:r>
          </a:p>
        </p:txBody>
      </p:sp>
      <p:sp>
        <p:nvSpPr>
          <p:cNvPr id="29" name="Text 9"/>
          <p:cNvSpPr txBox="1"/>
          <p:nvPr/>
        </p:nvSpPr>
        <p:spPr>
          <a:xfrm>
            <a:off x="8538789" y="775444"/>
            <a:ext cx="1778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MVP</a:t>
            </a:r>
          </a:p>
        </p:txBody>
      </p:sp>
      <p:sp>
        <p:nvSpPr>
          <p:cNvPr id="30" name="Shape 10"/>
          <p:cNvSpPr/>
          <p:nvPr/>
        </p:nvSpPr>
        <p:spPr>
          <a:xfrm>
            <a:off x="273880" y="3204343"/>
            <a:ext cx="3109915" cy="257176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457200" y="4151908"/>
            <a:ext cx="4179057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3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WebRTC Video Communication &amp; Collaboration Platform</a:t>
            </a:r>
          </a:p>
        </p:txBody>
      </p:sp>
      <p:sp>
        <p:nvSpPr>
          <p:cNvPr id="32" name="Shape 12"/>
          <p:cNvSpPr/>
          <p:nvPr/>
        </p:nvSpPr>
        <p:spPr>
          <a:xfrm>
            <a:off x="5943600" y="4363243"/>
            <a:ext cx="27432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13"/>
          <p:cNvSpPr txBox="1"/>
          <p:nvPr/>
        </p:nvSpPr>
        <p:spPr>
          <a:xfrm>
            <a:off x="457199" y="3031653"/>
            <a:ext cx="3531906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230" sz="5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34" name="Team-3:G.NCSS Gayathri , I.Sai Varshini , V.jahnavi"/>
          <p:cNvSpPr txBox="1"/>
          <p:nvPr/>
        </p:nvSpPr>
        <p:spPr>
          <a:xfrm>
            <a:off x="379312" y="4611763"/>
            <a:ext cx="4334832" cy="2135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9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Team-3:G.NCSS Gayathri , I.Sai Varshini , V.jahnavi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365335" y="335197"/>
            <a:ext cx="2195515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457200" y="859109"/>
            <a:ext cx="3126061" cy="3949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 self-contained MVP covering WebRTC core, backend</a:t>
            </a:r>
          </a:p>
          <a:p>
            <a:pPr>
              <a:lnSpc>
                <a:spcPts val="1600"/>
              </a:lnSpc>
              <a:defRPr sz="10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services, and full-stack deployment.</a:t>
            </a:r>
          </a:p>
        </p:txBody>
      </p:sp>
      <p:sp>
        <p:nvSpPr>
          <p:cNvPr id="40" name="Shape 4"/>
          <p:cNvSpPr/>
          <p:nvPr/>
        </p:nvSpPr>
        <p:spPr>
          <a:xfrm>
            <a:off x="457200" y="1376040"/>
            <a:ext cx="38862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5"/>
          <p:cNvSpPr txBox="1"/>
          <p:nvPr/>
        </p:nvSpPr>
        <p:spPr>
          <a:xfrm>
            <a:off x="457199" y="1531565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42" name="Text 6"/>
          <p:cNvSpPr txBox="1"/>
          <p:nvPr/>
        </p:nvSpPr>
        <p:spPr>
          <a:xfrm>
            <a:off x="715044" y="1527645"/>
            <a:ext cx="3064125" cy="297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Real-time video conferencing via native WebRTC mesh — up to 6-8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participants per room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457199" y="1989360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4" name="Text 8"/>
          <p:cNvSpPr txBox="1"/>
          <p:nvPr/>
        </p:nvSpPr>
        <p:spPr>
          <a:xfrm>
            <a:off x="715045" y="1985441"/>
            <a:ext cx="2892872" cy="297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JWT-authenticated user accounts with access and refresh token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rotation</a:t>
            </a:r>
          </a:p>
        </p:txBody>
      </p:sp>
      <p:sp>
        <p:nvSpPr>
          <p:cNvPr id="45" name="Text 9"/>
          <p:cNvSpPr txBox="1"/>
          <p:nvPr/>
        </p:nvSpPr>
        <p:spPr>
          <a:xfrm>
            <a:off x="457199" y="244715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6" name="Text 10"/>
          <p:cNvSpPr txBox="1"/>
          <p:nvPr/>
        </p:nvSpPr>
        <p:spPr>
          <a:xfrm>
            <a:off x="715045" y="2443236"/>
            <a:ext cx="3028157" cy="297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In-room features: screen share, mute/camera toggle, real-time chat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with file uploads, typing indicators</a:t>
            </a:r>
          </a:p>
        </p:txBody>
      </p:sp>
      <p:sp>
        <p:nvSpPr>
          <p:cNvPr id="47" name="Text 11"/>
          <p:cNvSpPr txBox="1"/>
          <p:nvPr/>
        </p:nvSpPr>
        <p:spPr>
          <a:xfrm>
            <a:off x="4800599" y="85826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48" name="Text 12"/>
          <p:cNvSpPr txBox="1"/>
          <p:nvPr/>
        </p:nvSpPr>
        <p:spPr>
          <a:xfrm>
            <a:off x="5058445" y="854348"/>
            <a:ext cx="3079205" cy="297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Collaborative whiteboard shared across all participants via Socket.io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draw events</a:t>
            </a:r>
          </a:p>
        </p:txBody>
      </p:sp>
      <p:sp>
        <p:nvSpPr>
          <p:cNvPr id="49" name="Text 13"/>
          <p:cNvSpPr txBox="1"/>
          <p:nvPr/>
        </p:nvSpPr>
        <p:spPr>
          <a:xfrm>
            <a:off x="4800599" y="1316062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50" name="Text 14"/>
          <p:cNvSpPr txBox="1"/>
          <p:nvPr/>
        </p:nvSpPr>
        <p:spPr>
          <a:xfrm>
            <a:off x="5058445" y="1312142"/>
            <a:ext cx="3062536" cy="297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Attendance tracking with join/leave timestamps and a downloadable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PDF session report</a:t>
            </a:r>
          </a:p>
        </p:txBody>
      </p:sp>
      <p:sp>
        <p:nvSpPr>
          <p:cNvPr id="51" name="Text 15"/>
          <p:cNvSpPr txBox="1"/>
          <p:nvPr/>
        </p:nvSpPr>
        <p:spPr>
          <a:xfrm>
            <a:off x="4800599" y="1773858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52" name="Text 16"/>
          <p:cNvSpPr txBox="1"/>
          <p:nvPr/>
        </p:nvSpPr>
        <p:spPr>
          <a:xfrm>
            <a:off x="5058445" y="1769938"/>
            <a:ext cx="3068092" cy="2976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Session report includes duration, full attendance log, chat transcript,</a:t>
            </a:r>
          </a:p>
          <a:p>
            <a:pPr>
              <a:lnSpc>
                <a:spcPts val="1200"/>
              </a:lnSpc>
              <a:defRPr sz="8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and whiteboard notes</a:t>
            </a:r>
          </a:p>
        </p:txBody>
      </p:sp>
      <p:sp>
        <p:nvSpPr>
          <p:cNvPr id="53" name="Shape 17"/>
          <p:cNvSpPr/>
          <p:nvPr/>
        </p:nvSpPr>
        <p:spPr>
          <a:xfrm>
            <a:off x="4809486" y="3636838"/>
            <a:ext cx="3886201" cy="976313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8"/>
          <p:cNvSpPr txBox="1"/>
          <p:nvPr/>
        </p:nvSpPr>
        <p:spPr>
          <a:xfrm>
            <a:off x="5033962" y="4061494"/>
            <a:ext cx="26380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b="1" spc="61" sz="600">
                <a:solidFill>
                  <a:srgbClr val="71809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GOAL</a:t>
            </a:r>
          </a:p>
        </p:txBody>
      </p:sp>
      <p:sp>
        <p:nvSpPr>
          <p:cNvPr id="55" name="Text 19"/>
          <p:cNvSpPr txBox="1"/>
          <p:nvPr/>
        </p:nvSpPr>
        <p:spPr>
          <a:xfrm>
            <a:off x="5343128" y="3898491"/>
            <a:ext cx="3149651" cy="45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b="1" spc="-9" sz="9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 structured is extensible so that simulcast, recording,</a:t>
            </a:r>
          </a:p>
          <a:p>
            <a:pPr>
              <a:lnSpc>
                <a:spcPts val="1200"/>
              </a:lnSpc>
              <a:defRPr b="1" spc="-9" sz="9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email reports, Redux, and monitoring can each be dropped</a:t>
            </a:r>
          </a:p>
          <a:p>
            <a:pPr>
              <a:lnSpc>
                <a:spcPts val="1200"/>
              </a:lnSpc>
              <a:defRPr b="1" spc="-9" sz="9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 without restructuring.</a:t>
            </a:r>
          </a:p>
        </p:txBody>
      </p:sp>
      <p:sp>
        <p:nvSpPr>
          <p:cNvPr id="56" name="Text 21"/>
          <p:cNvSpPr txBox="1"/>
          <p:nvPr/>
        </p:nvSpPr>
        <p:spPr>
          <a:xfrm>
            <a:off x="457200" y="4808016"/>
            <a:ext cx="10375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Project Overview / MeetSpace</a:t>
            </a:r>
          </a:p>
        </p:txBody>
      </p:sp>
      <p:sp>
        <p:nvSpPr>
          <p:cNvPr id="57" name="Text 22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8" name="Text 23"/>
          <p:cNvSpPr txBox="1"/>
          <p:nvPr/>
        </p:nvSpPr>
        <p:spPr>
          <a:xfrm>
            <a:off x="457199" y="231775"/>
            <a:ext cx="2044954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Project Overview</a:t>
            </a:r>
          </a:p>
        </p:txBody>
      </p:sp>
      <p:pic>
        <p:nvPicPr>
          <p:cNvPr id="5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Shape 1"/>
          <p:cNvSpPr/>
          <p:nvPr/>
        </p:nvSpPr>
        <p:spPr>
          <a:xfrm>
            <a:off x="365819" y="335197"/>
            <a:ext cx="1828801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64" name="Text 4"/>
          <p:cNvSpPr txBox="1"/>
          <p:nvPr/>
        </p:nvSpPr>
        <p:spPr>
          <a:xfrm>
            <a:off x="457200" y="969441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5" name="Text 5"/>
          <p:cNvSpPr txBox="1"/>
          <p:nvPr/>
        </p:nvSpPr>
        <p:spPr>
          <a:xfrm>
            <a:off x="457200" y="1197992"/>
            <a:ext cx="540578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b="1" spc="-22" sz="1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66" name="Text 6"/>
          <p:cNvSpPr txBox="1"/>
          <p:nvPr/>
        </p:nvSpPr>
        <p:spPr>
          <a:xfrm>
            <a:off x="457200" y="1514004"/>
            <a:ext cx="49787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React + Vite</a:t>
            </a:r>
          </a:p>
        </p:txBody>
      </p:sp>
      <p:sp>
        <p:nvSpPr>
          <p:cNvPr id="67" name="Text 7"/>
          <p:cNvSpPr txBox="1"/>
          <p:nvPr/>
        </p:nvSpPr>
        <p:spPr>
          <a:xfrm>
            <a:off x="457199" y="1685825"/>
            <a:ext cx="15962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Component framework + fast dev server</a:t>
            </a:r>
          </a:p>
        </p:txBody>
      </p:sp>
      <p:sp>
        <p:nvSpPr>
          <p:cNvPr id="68" name="Text 8"/>
          <p:cNvSpPr txBox="1"/>
          <p:nvPr/>
        </p:nvSpPr>
        <p:spPr>
          <a:xfrm>
            <a:off x="457200" y="1930574"/>
            <a:ext cx="53646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React Router</a:t>
            </a:r>
          </a:p>
        </p:txBody>
      </p:sp>
      <p:sp>
        <p:nvSpPr>
          <p:cNvPr id="69" name="Text 9"/>
          <p:cNvSpPr txBox="1"/>
          <p:nvPr/>
        </p:nvSpPr>
        <p:spPr>
          <a:xfrm>
            <a:off x="457199" y="2102396"/>
            <a:ext cx="2295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Client-side navigation (Login, Dashboard, Room, Reports)</a:t>
            </a:r>
          </a:p>
        </p:txBody>
      </p:sp>
      <p:sp>
        <p:nvSpPr>
          <p:cNvPr id="70" name="Text 10"/>
          <p:cNvSpPr txBox="1"/>
          <p:nvPr/>
        </p:nvSpPr>
        <p:spPr>
          <a:xfrm>
            <a:off x="457200" y="2347143"/>
            <a:ext cx="6155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Socket.io-client</a:t>
            </a:r>
          </a:p>
        </p:txBody>
      </p:sp>
      <p:sp>
        <p:nvSpPr>
          <p:cNvPr id="71" name="Text 11"/>
          <p:cNvSpPr txBox="1"/>
          <p:nvPr/>
        </p:nvSpPr>
        <p:spPr>
          <a:xfrm>
            <a:off x="457199" y="2518966"/>
            <a:ext cx="13668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Signaling, chat, whiteboard events</a:t>
            </a:r>
          </a:p>
        </p:txBody>
      </p:sp>
      <p:sp>
        <p:nvSpPr>
          <p:cNvPr id="72" name="Text 12"/>
          <p:cNvSpPr txBox="1"/>
          <p:nvPr/>
        </p:nvSpPr>
        <p:spPr>
          <a:xfrm>
            <a:off x="457200" y="2763713"/>
            <a:ext cx="4822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Context API</a:t>
            </a:r>
          </a:p>
        </p:txBody>
      </p:sp>
      <p:sp>
        <p:nvSpPr>
          <p:cNvPr id="73" name="Text 13"/>
          <p:cNvSpPr txBox="1"/>
          <p:nvPr/>
        </p:nvSpPr>
        <p:spPr>
          <a:xfrm>
            <a:off x="457199" y="2935535"/>
            <a:ext cx="14407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AuthContext.jsx for global user state</a:t>
            </a:r>
          </a:p>
        </p:txBody>
      </p:sp>
      <p:sp>
        <p:nvSpPr>
          <p:cNvPr id="74" name="Text 15"/>
          <p:cNvSpPr txBox="1"/>
          <p:nvPr/>
        </p:nvSpPr>
        <p:spPr>
          <a:xfrm>
            <a:off x="3291854" y="969441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5" name="Text 16"/>
          <p:cNvSpPr txBox="1"/>
          <p:nvPr/>
        </p:nvSpPr>
        <p:spPr>
          <a:xfrm>
            <a:off x="3291854" y="1197992"/>
            <a:ext cx="522537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b="1" spc="-22" sz="1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76" name="Text 17"/>
          <p:cNvSpPr txBox="1"/>
          <p:nvPr/>
        </p:nvSpPr>
        <p:spPr>
          <a:xfrm>
            <a:off x="3291854" y="1514004"/>
            <a:ext cx="7365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Node.js + Express</a:t>
            </a:r>
          </a:p>
        </p:txBody>
      </p:sp>
      <p:sp>
        <p:nvSpPr>
          <p:cNvPr id="77" name="Text 18"/>
          <p:cNvSpPr txBox="1"/>
          <p:nvPr/>
        </p:nvSpPr>
        <p:spPr>
          <a:xfrm>
            <a:off x="3291854" y="1685825"/>
            <a:ext cx="12069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REST API server on port 5000</a:t>
            </a:r>
          </a:p>
        </p:txBody>
      </p:sp>
      <p:sp>
        <p:nvSpPr>
          <p:cNvPr id="78" name="Text 19"/>
          <p:cNvSpPr txBox="1"/>
          <p:nvPr/>
        </p:nvSpPr>
        <p:spPr>
          <a:xfrm>
            <a:off x="3291854" y="1930574"/>
            <a:ext cx="3783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Socket.io</a:t>
            </a:r>
          </a:p>
        </p:txBody>
      </p:sp>
      <p:sp>
        <p:nvSpPr>
          <p:cNvPr id="79" name="Text 20"/>
          <p:cNvSpPr txBox="1"/>
          <p:nvPr/>
        </p:nvSpPr>
        <p:spPr>
          <a:xfrm>
            <a:off x="3291854" y="2102396"/>
            <a:ext cx="14557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Signaling server + chat + whiteboard</a:t>
            </a:r>
          </a:p>
        </p:txBody>
      </p:sp>
      <p:sp>
        <p:nvSpPr>
          <p:cNvPr id="80" name="Text 21"/>
          <p:cNvSpPr txBox="1"/>
          <p:nvPr/>
        </p:nvSpPr>
        <p:spPr>
          <a:xfrm>
            <a:off x="3291854" y="2347143"/>
            <a:ext cx="9244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MongoDB + Mongoose</a:t>
            </a:r>
          </a:p>
        </p:txBody>
      </p:sp>
      <p:sp>
        <p:nvSpPr>
          <p:cNvPr id="81" name="Text 22"/>
          <p:cNvSpPr txBox="1"/>
          <p:nvPr/>
        </p:nvSpPr>
        <p:spPr>
          <a:xfrm>
            <a:off x="3291854" y="2518966"/>
            <a:ext cx="222634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Database with User, Room, Message, Session schemas</a:t>
            </a:r>
          </a:p>
        </p:txBody>
      </p:sp>
      <p:sp>
        <p:nvSpPr>
          <p:cNvPr id="82" name="Text 23"/>
          <p:cNvSpPr txBox="1"/>
          <p:nvPr/>
        </p:nvSpPr>
        <p:spPr>
          <a:xfrm>
            <a:off x="3291854" y="2763713"/>
            <a:ext cx="8855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JWT + bcrypt + Multer</a:t>
            </a:r>
          </a:p>
        </p:txBody>
      </p:sp>
      <p:sp>
        <p:nvSpPr>
          <p:cNvPr id="83" name="Text 24"/>
          <p:cNvSpPr txBox="1"/>
          <p:nvPr/>
        </p:nvSpPr>
        <p:spPr>
          <a:xfrm>
            <a:off x="3291854" y="2935535"/>
            <a:ext cx="17473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Auth tokens, password hashing, file uploads</a:t>
            </a:r>
          </a:p>
        </p:txBody>
      </p:sp>
      <p:sp>
        <p:nvSpPr>
          <p:cNvPr id="84" name="Text 26"/>
          <p:cNvSpPr txBox="1"/>
          <p:nvPr/>
        </p:nvSpPr>
        <p:spPr>
          <a:xfrm>
            <a:off x="6126510" y="969441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5" name="Text 27"/>
          <p:cNvSpPr txBox="1"/>
          <p:nvPr/>
        </p:nvSpPr>
        <p:spPr>
          <a:xfrm>
            <a:off x="6126510" y="1197992"/>
            <a:ext cx="5197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b="1" spc="-22" sz="10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Realtime</a:t>
            </a:r>
          </a:p>
        </p:txBody>
      </p:sp>
      <p:sp>
        <p:nvSpPr>
          <p:cNvPr id="86" name="Text 28"/>
          <p:cNvSpPr txBox="1"/>
          <p:nvPr/>
        </p:nvSpPr>
        <p:spPr>
          <a:xfrm>
            <a:off x="6126510" y="1514004"/>
            <a:ext cx="8313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RTCPeerConnection</a:t>
            </a:r>
          </a:p>
        </p:txBody>
      </p:sp>
      <p:sp>
        <p:nvSpPr>
          <p:cNvPr id="87" name="Text 29"/>
          <p:cNvSpPr txBox="1"/>
          <p:nvPr/>
        </p:nvSpPr>
        <p:spPr>
          <a:xfrm>
            <a:off x="6126510" y="1685825"/>
            <a:ext cx="202041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Native WebRTC mesh — no media server required</a:t>
            </a:r>
          </a:p>
        </p:txBody>
      </p:sp>
      <p:sp>
        <p:nvSpPr>
          <p:cNvPr id="88" name="Text 30"/>
          <p:cNvSpPr txBox="1"/>
          <p:nvPr/>
        </p:nvSpPr>
        <p:spPr>
          <a:xfrm>
            <a:off x="6126510" y="1930574"/>
            <a:ext cx="7966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Offer / Answer / ICE</a:t>
            </a:r>
          </a:p>
        </p:txBody>
      </p:sp>
      <p:sp>
        <p:nvSpPr>
          <p:cNvPr id="89" name="Text 31"/>
          <p:cNvSpPr txBox="1"/>
          <p:nvPr/>
        </p:nvSpPr>
        <p:spPr>
          <a:xfrm>
            <a:off x="6126510" y="2102396"/>
            <a:ext cx="195152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Standard WebRTC signaling via Socket.io events</a:t>
            </a:r>
          </a:p>
        </p:txBody>
      </p:sp>
      <p:sp>
        <p:nvSpPr>
          <p:cNvPr id="90" name="Text 32"/>
          <p:cNvSpPr txBox="1"/>
          <p:nvPr/>
        </p:nvSpPr>
        <p:spPr>
          <a:xfrm>
            <a:off x="6126510" y="2347143"/>
            <a:ext cx="5660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Google STUN</a:t>
            </a:r>
          </a:p>
        </p:txBody>
      </p:sp>
      <p:sp>
        <p:nvSpPr>
          <p:cNvPr id="91" name="Text 33"/>
          <p:cNvSpPr txBox="1"/>
          <p:nvPr/>
        </p:nvSpPr>
        <p:spPr>
          <a:xfrm>
            <a:off x="6126510" y="2518966"/>
            <a:ext cx="18016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200"/>
              </a:spcBef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stun.l.google.com:19302 for local/LAN testing</a:t>
            </a:r>
          </a:p>
        </p:txBody>
      </p:sp>
      <p:sp>
        <p:nvSpPr>
          <p:cNvPr id="92" name="Text 37"/>
          <p:cNvSpPr txBox="1"/>
          <p:nvPr/>
        </p:nvSpPr>
        <p:spPr>
          <a:xfrm>
            <a:off x="457199" y="4808016"/>
            <a:ext cx="8343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Tech Stack / MeetSpace</a:t>
            </a:r>
          </a:p>
        </p:txBody>
      </p:sp>
      <p:sp>
        <p:nvSpPr>
          <p:cNvPr id="93" name="Text 38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94" name="Text 39"/>
          <p:cNvSpPr txBox="1"/>
          <p:nvPr/>
        </p:nvSpPr>
        <p:spPr>
          <a:xfrm>
            <a:off x="457200" y="231775"/>
            <a:ext cx="131873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Tech Stack</a:t>
            </a:r>
          </a:p>
        </p:txBody>
      </p:sp>
      <p:pic>
        <p:nvPicPr>
          <p:cNvPr id="95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6270" y="839687"/>
            <a:ext cx="2562226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0925" y="839687"/>
            <a:ext cx="2562226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5579" y="839687"/>
            <a:ext cx="2562226" cy="66675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Shape 1"/>
          <p:cNvSpPr/>
          <p:nvPr/>
        </p:nvSpPr>
        <p:spPr>
          <a:xfrm>
            <a:off x="366749" y="335197"/>
            <a:ext cx="2009776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103" name="Text 3"/>
          <p:cNvSpPr txBox="1"/>
          <p:nvPr/>
        </p:nvSpPr>
        <p:spPr>
          <a:xfrm>
            <a:off x="457199" y="858316"/>
            <a:ext cx="36202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sz="9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server/</a:t>
            </a:r>
          </a:p>
        </p:txBody>
      </p:sp>
      <p:sp>
        <p:nvSpPr>
          <p:cNvPr id="104" name="Text 4"/>
          <p:cNvSpPr txBox="1"/>
          <p:nvPr/>
        </p:nvSpPr>
        <p:spPr>
          <a:xfrm>
            <a:off x="457199" y="1241425"/>
            <a:ext cx="3437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server.js</a:t>
            </a:r>
          </a:p>
        </p:txBody>
      </p:sp>
      <p:sp>
        <p:nvSpPr>
          <p:cNvPr id="105" name="Text 5"/>
          <p:cNvSpPr txBox="1"/>
          <p:nvPr/>
        </p:nvSpPr>
        <p:spPr>
          <a:xfrm>
            <a:off x="1024694" y="1241425"/>
            <a:ext cx="20485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Entry point — mounts Express routes and Socket.io</a:t>
            </a:r>
          </a:p>
        </p:txBody>
      </p:sp>
      <p:sp>
        <p:nvSpPr>
          <p:cNvPr id="106" name="Text 6"/>
          <p:cNvSpPr txBox="1"/>
          <p:nvPr/>
        </p:nvSpPr>
        <p:spPr>
          <a:xfrm>
            <a:off x="457200" y="1488256"/>
            <a:ext cx="3239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models/</a:t>
            </a:r>
          </a:p>
        </p:txBody>
      </p:sp>
      <p:sp>
        <p:nvSpPr>
          <p:cNvPr id="107" name="Text 7"/>
          <p:cNvSpPr txBox="1"/>
          <p:nvPr/>
        </p:nvSpPr>
        <p:spPr>
          <a:xfrm>
            <a:off x="997520" y="1481111"/>
            <a:ext cx="21028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Mongoose schemas: User, Room, Message, Session</a:t>
            </a:r>
          </a:p>
        </p:txBody>
      </p:sp>
      <p:sp>
        <p:nvSpPr>
          <p:cNvPr id="108" name="Text 8"/>
          <p:cNvSpPr txBox="1"/>
          <p:nvPr/>
        </p:nvSpPr>
        <p:spPr>
          <a:xfrm>
            <a:off x="457199" y="1735087"/>
            <a:ext cx="4474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controllers/</a:t>
            </a:r>
          </a:p>
        </p:txBody>
      </p:sp>
      <p:sp>
        <p:nvSpPr>
          <p:cNvPr id="109" name="Text 9"/>
          <p:cNvSpPr txBox="1"/>
          <p:nvPr/>
        </p:nvSpPr>
        <p:spPr>
          <a:xfrm>
            <a:off x="979357" y="1727944"/>
            <a:ext cx="11789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Auth and room business logic</a:t>
            </a:r>
          </a:p>
        </p:txBody>
      </p:sp>
      <p:sp>
        <p:nvSpPr>
          <p:cNvPr id="110" name="Text 10"/>
          <p:cNvSpPr txBox="1"/>
          <p:nvPr/>
        </p:nvSpPr>
        <p:spPr>
          <a:xfrm>
            <a:off x="457200" y="1981919"/>
            <a:ext cx="28447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routes/</a:t>
            </a:r>
          </a:p>
        </p:txBody>
      </p:sp>
      <p:sp>
        <p:nvSpPr>
          <p:cNvPr id="111" name="Text 11"/>
          <p:cNvSpPr txBox="1"/>
          <p:nvPr/>
        </p:nvSpPr>
        <p:spPr>
          <a:xfrm>
            <a:off x="917544" y="1974774"/>
            <a:ext cx="130257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/api/auth, /api/rooms, /api/upload</a:t>
            </a:r>
          </a:p>
        </p:txBody>
      </p:sp>
      <p:sp>
        <p:nvSpPr>
          <p:cNvPr id="112" name="Text 12"/>
          <p:cNvSpPr txBox="1"/>
          <p:nvPr/>
        </p:nvSpPr>
        <p:spPr>
          <a:xfrm>
            <a:off x="457200" y="2228750"/>
            <a:ext cx="491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middleware/</a:t>
            </a:r>
          </a:p>
        </p:txBody>
      </p:sp>
      <p:sp>
        <p:nvSpPr>
          <p:cNvPr id="113" name="Text 13"/>
          <p:cNvSpPr txBox="1"/>
          <p:nvPr/>
        </p:nvSpPr>
        <p:spPr>
          <a:xfrm>
            <a:off x="1033781" y="2230225"/>
            <a:ext cx="19182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verifyToken.js — JWT guard for protected routes</a:t>
            </a:r>
          </a:p>
        </p:txBody>
      </p:sp>
      <p:sp>
        <p:nvSpPr>
          <p:cNvPr id="114" name="Text 14"/>
          <p:cNvSpPr txBox="1"/>
          <p:nvPr/>
        </p:nvSpPr>
        <p:spPr>
          <a:xfrm>
            <a:off x="457199" y="2475582"/>
            <a:ext cx="33878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sockets/</a:t>
            </a:r>
          </a:p>
        </p:txBody>
      </p:sp>
      <p:sp>
        <p:nvSpPr>
          <p:cNvPr id="115" name="Text 15"/>
          <p:cNvSpPr txBox="1"/>
          <p:nvPr/>
        </p:nvSpPr>
        <p:spPr>
          <a:xfrm>
            <a:off x="1055116" y="2468438"/>
            <a:ext cx="18756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signaling.js, chatSocket.js, whiteboardSocket.js</a:t>
            </a:r>
          </a:p>
        </p:txBody>
      </p:sp>
      <p:sp>
        <p:nvSpPr>
          <p:cNvPr id="116" name="Text 16"/>
          <p:cNvSpPr txBox="1"/>
          <p:nvPr/>
        </p:nvSpPr>
        <p:spPr>
          <a:xfrm>
            <a:off x="4754910" y="858316"/>
            <a:ext cx="495406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sz="9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client/src/</a:t>
            </a:r>
          </a:p>
        </p:txBody>
      </p:sp>
      <p:sp>
        <p:nvSpPr>
          <p:cNvPr id="117" name="Text 17"/>
          <p:cNvSpPr txBox="1"/>
          <p:nvPr/>
        </p:nvSpPr>
        <p:spPr>
          <a:xfrm>
            <a:off x="4754910" y="1241425"/>
            <a:ext cx="2796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pages/</a:t>
            </a:r>
          </a:p>
        </p:txBody>
      </p:sp>
      <p:sp>
        <p:nvSpPr>
          <p:cNvPr id="118" name="Text 18"/>
          <p:cNvSpPr txBox="1"/>
          <p:nvPr/>
        </p:nvSpPr>
        <p:spPr>
          <a:xfrm>
            <a:off x="5237634" y="1234280"/>
            <a:ext cx="16468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Login, Dashboard, Lobby, Room, Reports</a:t>
            </a:r>
          </a:p>
        </p:txBody>
      </p:sp>
      <p:sp>
        <p:nvSpPr>
          <p:cNvPr id="119" name="Text 19"/>
          <p:cNvSpPr txBox="1"/>
          <p:nvPr/>
        </p:nvSpPr>
        <p:spPr>
          <a:xfrm>
            <a:off x="4754910" y="1488256"/>
            <a:ext cx="5217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components/</a:t>
            </a:r>
          </a:p>
        </p:txBody>
      </p:sp>
      <p:sp>
        <p:nvSpPr>
          <p:cNvPr id="120" name="Text 20"/>
          <p:cNvSpPr txBox="1"/>
          <p:nvPr/>
        </p:nvSpPr>
        <p:spPr>
          <a:xfrm>
            <a:off x="5525615" y="1481111"/>
            <a:ext cx="22643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VideoGrid, ChatPanel, ControlsBar, Whiteboard, UserList</a:t>
            </a:r>
          </a:p>
        </p:txBody>
      </p:sp>
      <p:sp>
        <p:nvSpPr>
          <p:cNvPr id="121" name="Text 21"/>
          <p:cNvSpPr txBox="1"/>
          <p:nvPr/>
        </p:nvSpPr>
        <p:spPr>
          <a:xfrm>
            <a:off x="4754910" y="1735087"/>
            <a:ext cx="2746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hooks/</a:t>
            </a:r>
          </a:p>
        </p:txBody>
      </p:sp>
      <p:sp>
        <p:nvSpPr>
          <p:cNvPr id="122" name="Text 22"/>
          <p:cNvSpPr txBox="1"/>
          <p:nvPr/>
        </p:nvSpPr>
        <p:spPr>
          <a:xfrm>
            <a:off x="5237634" y="1727944"/>
            <a:ext cx="30384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useWebRTC.js — peer mesh logic, useSocket.js — connection management</a:t>
            </a:r>
          </a:p>
        </p:txBody>
      </p:sp>
      <p:sp>
        <p:nvSpPr>
          <p:cNvPr id="123" name="Text 23"/>
          <p:cNvSpPr txBox="1"/>
          <p:nvPr/>
        </p:nvSpPr>
        <p:spPr>
          <a:xfrm>
            <a:off x="4754910" y="1981919"/>
            <a:ext cx="32402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context/</a:t>
            </a:r>
          </a:p>
        </p:txBody>
      </p:sp>
      <p:sp>
        <p:nvSpPr>
          <p:cNvPr id="124" name="Text 24"/>
          <p:cNvSpPr txBox="1"/>
          <p:nvPr/>
        </p:nvSpPr>
        <p:spPr>
          <a:xfrm>
            <a:off x="5352827" y="1974774"/>
            <a:ext cx="18065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AuthContext.jsx — global authentication state</a:t>
            </a:r>
          </a:p>
        </p:txBody>
      </p:sp>
      <p:sp>
        <p:nvSpPr>
          <p:cNvPr id="125" name="Text 26"/>
          <p:cNvSpPr txBox="1"/>
          <p:nvPr/>
        </p:nvSpPr>
        <p:spPr>
          <a:xfrm>
            <a:off x="457200" y="4808016"/>
            <a:ext cx="10079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Folder Structure / MeetSpace</a:t>
            </a:r>
          </a:p>
        </p:txBody>
      </p:sp>
      <p:sp>
        <p:nvSpPr>
          <p:cNvPr id="126" name="Text 27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127" name="Text 28"/>
          <p:cNvSpPr txBox="1"/>
          <p:nvPr/>
        </p:nvSpPr>
        <p:spPr>
          <a:xfrm>
            <a:off x="457199" y="231775"/>
            <a:ext cx="195523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Folder Structure</a:t>
            </a:r>
          </a:p>
        </p:txBody>
      </p:sp>
      <p:pic>
        <p:nvPicPr>
          <p:cNvPr id="12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6270" y="839129"/>
            <a:ext cx="3933826" cy="26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753979" y="839129"/>
            <a:ext cx="3933826" cy="266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Image 2" descr="Imag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Shape 1"/>
          <p:cNvSpPr/>
          <p:nvPr/>
        </p:nvSpPr>
        <p:spPr>
          <a:xfrm>
            <a:off x="364852" y="335197"/>
            <a:ext cx="2562226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135" name="Text 3"/>
          <p:cNvSpPr txBox="1"/>
          <p:nvPr/>
        </p:nvSpPr>
        <p:spPr>
          <a:xfrm>
            <a:off x="457199" y="831329"/>
            <a:ext cx="9996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1000"/>
              </a:spcBef>
              <a:defRPr b="1" spc="61" sz="600">
                <a:solidFill>
                  <a:srgbClr val="71809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REQUIRED SOFTWARE</a:t>
            </a:r>
          </a:p>
        </p:txBody>
      </p:sp>
      <p:sp>
        <p:nvSpPr>
          <p:cNvPr id="136" name="Shape 4"/>
          <p:cNvSpPr/>
          <p:nvPr/>
        </p:nvSpPr>
        <p:spPr>
          <a:xfrm>
            <a:off x="457200" y="1086184"/>
            <a:ext cx="3886200" cy="614364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 5"/>
          <p:cNvSpPr txBox="1"/>
          <p:nvPr/>
        </p:nvSpPr>
        <p:spPr>
          <a:xfrm>
            <a:off x="644798" y="1235992"/>
            <a:ext cx="5577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300"/>
              </a:spcBef>
              <a:defRPr sz="8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Node.js 18+</a:t>
            </a:r>
          </a:p>
        </p:txBody>
      </p:sp>
      <p:sp>
        <p:nvSpPr>
          <p:cNvPr id="138" name="Text 6"/>
          <p:cNvSpPr txBox="1"/>
          <p:nvPr/>
        </p:nvSpPr>
        <p:spPr>
          <a:xfrm>
            <a:off x="644797" y="1429767"/>
            <a:ext cx="2018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JavaScript runtime for both server and build tooling</a:t>
            </a:r>
          </a:p>
        </p:txBody>
      </p:sp>
      <p:sp>
        <p:nvSpPr>
          <p:cNvPr id="139" name="Shape 7"/>
          <p:cNvSpPr/>
          <p:nvPr/>
        </p:nvSpPr>
        <p:spPr>
          <a:xfrm>
            <a:off x="457200" y="1829321"/>
            <a:ext cx="3886200" cy="762001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Text 8"/>
          <p:cNvSpPr txBox="1"/>
          <p:nvPr/>
        </p:nvSpPr>
        <p:spPr>
          <a:xfrm>
            <a:off x="644797" y="1980951"/>
            <a:ext cx="46449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300"/>
              </a:spcBef>
              <a:defRPr sz="8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MongoDB</a:t>
            </a:r>
          </a:p>
        </p:txBody>
      </p:sp>
      <p:sp>
        <p:nvSpPr>
          <p:cNvPr id="141" name="Text 9"/>
          <p:cNvSpPr txBox="1"/>
          <p:nvPr/>
        </p:nvSpPr>
        <p:spPr>
          <a:xfrm>
            <a:off x="644797" y="2178694"/>
            <a:ext cx="2913455" cy="2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Local (mongodb://localhost:27017) or free MongoDB Atlas cluster — Atlas</a:t>
            </a:r>
          </a:p>
          <a:p>
            <a:pPr>
              <a:lnSpc>
                <a:spcPts val="11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recommended for deployment</a:t>
            </a:r>
          </a:p>
        </p:txBody>
      </p:sp>
      <p:sp>
        <p:nvSpPr>
          <p:cNvPr id="142" name="Text 10"/>
          <p:cNvSpPr txBox="1"/>
          <p:nvPr/>
        </p:nvSpPr>
        <p:spPr>
          <a:xfrm>
            <a:off x="4800599" y="831329"/>
            <a:ext cx="6856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pc="61" sz="600">
                <a:solidFill>
                  <a:srgbClr val="71809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BACKEND .ENV</a:t>
            </a:r>
          </a:p>
        </p:txBody>
      </p:sp>
      <p:sp>
        <p:nvSpPr>
          <p:cNvPr id="143" name="Text 11"/>
          <p:cNvSpPr txBox="1"/>
          <p:nvPr/>
        </p:nvSpPr>
        <p:spPr>
          <a:xfrm>
            <a:off x="4800599" y="1067370"/>
            <a:ext cx="5609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MONGO_URI</a:t>
            </a:r>
          </a:p>
        </p:txBody>
      </p:sp>
      <p:sp>
        <p:nvSpPr>
          <p:cNvPr id="144" name="Text 12"/>
          <p:cNvSpPr txBox="1"/>
          <p:nvPr/>
        </p:nvSpPr>
        <p:spPr>
          <a:xfrm>
            <a:off x="5410348" y="1067370"/>
            <a:ext cx="1104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MongoDB connection string</a:t>
            </a:r>
          </a:p>
        </p:txBody>
      </p:sp>
      <p:sp>
        <p:nvSpPr>
          <p:cNvPr id="145" name="Text 13"/>
          <p:cNvSpPr txBox="1"/>
          <p:nvPr/>
        </p:nvSpPr>
        <p:spPr>
          <a:xfrm>
            <a:off x="4800599" y="1288454"/>
            <a:ext cx="6053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JWT_SECRET</a:t>
            </a:r>
          </a:p>
        </p:txBody>
      </p:sp>
      <p:sp>
        <p:nvSpPr>
          <p:cNvPr id="146" name="Text 14"/>
          <p:cNvSpPr txBox="1"/>
          <p:nvPr/>
        </p:nvSpPr>
        <p:spPr>
          <a:xfrm>
            <a:off x="5467944" y="1288454"/>
            <a:ext cx="19942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Random 32-byte hex string (openssl rand -hex 32)</a:t>
            </a:r>
          </a:p>
        </p:txBody>
      </p:sp>
      <p:sp>
        <p:nvSpPr>
          <p:cNvPr id="147" name="Text 15"/>
          <p:cNvSpPr txBox="1"/>
          <p:nvPr/>
        </p:nvSpPr>
        <p:spPr>
          <a:xfrm>
            <a:off x="4800599" y="1509538"/>
            <a:ext cx="10796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JWT_REFRESH_SECRET</a:t>
            </a:r>
          </a:p>
        </p:txBody>
      </p:sp>
      <p:sp>
        <p:nvSpPr>
          <p:cNvPr id="148" name="Text 16"/>
          <p:cNvSpPr txBox="1"/>
          <p:nvPr/>
        </p:nvSpPr>
        <p:spPr>
          <a:xfrm>
            <a:off x="5928717" y="1509538"/>
            <a:ext cx="16779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Separate 32-byte secret for refresh tokens</a:t>
            </a:r>
          </a:p>
        </p:txBody>
      </p:sp>
      <p:sp>
        <p:nvSpPr>
          <p:cNvPr id="149" name="Text 17"/>
          <p:cNvSpPr txBox="1"/>
          <p:nvPr/>
        </p:nvSpPr>
        <p:spPr>
          <a:xfrm>
            <a:off x="4800599" y="1730623"/>
            <a:ext cx="55612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CLIENT_URL</a:t>
            </a:r>
          </a:p>
        </p:txBody>
      </p:sp>
      <p:sp>
        <p:nvSpPr>
          <p:cNvPr id="150" name="Text 18"/>
          <p:cNvSpPr txBox="1"/>
          <p:nvPr/>
        </p:nvSpPr>
        <p:spPr>
          <a:xfrm>
            <a:off x="5467944" y="1730623"/>
            <a:ext cx="12791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Frontend origin URL (for CORS)</a:t>
            </a:r>
          </a:p>
        </p:txBody>
      </p:sp>
      <p:sp>
        <p:nvSpPr>
          <p:cNvPr id="151" name="Shape 19"/>
          <p:cNvSpPr/>
          <p:nvPr/>
        </p:nvSpPr>
        <p:spPr>
          <a:xfrm>
            <a:off x="4800600" y="2016968"/>
            <a:ext cx="3886200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Text 20"/>
          <p:cNvSpPr txBox="1"/>
          <p:nvPr/>
        </p:nvSpPr>
        <p:spPr>
          <a:xfrm>
            <a:off x="4800600" y="2171228"/>
            <a:ext cx="7357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pc="61" sz="600">
                <a:solidFill>
                  <a:srgbClr val="71809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FRONTEND .ENV</a:t>
            </a:r>
          </a:p>
        </p:txBody>
      </p:sp>
      <p:sp>
        <p:nvSpPr>
          <p:cNvPr id="153" name="Text 21"/>
          <p:cNvSpPr txBox="1"/>
          <p:nvPr/>
        </p:nvSpPr>
        <p:spPr>
          <a:xfrm>
            <a:off x="4800599" y="2407270"/>
            <a:ext cx="630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VITE_API_URL</a:t>
            </a:r>
          </a:p>
        </p:txBody>
      </p:sp>
      <p:sp>
        <p:nvSpPr>
          <p:cNvPr id="154" name="Text 22"/>
          <p:cNvSpPr txBox="1"/>
          <p:nvPr/>
        </p:nvSpPr>
        <p:spPr>
          <a:xfrm>
            <a:off x="5583137" y="2407269"/>
            <a:ext cx="1971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Backend base URL (default: http://localhost:5000)</a:t>
            </a:r>
          </a:p>
        </p:txBody>
      </p:sp>
      <p:sp>
        <p:nvSpPr>
          <p:cNvPr id="155" name="Text 23"/>
          <p:cNvSpPr txBox="1"/>
          <p:nvPr/>
        </p:nvSpPr>
        <p:spPr>
          <a:xfrm>
            <a:off x="4800600" y="2628354"/>
            <a:ext cx="8525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VITE_SOCKET_URL</a:t>
            </a:r>
          </a:p>
        </p:txBody>
      </p:sp>
      <p:sp>
        <p:nvSpPr>
          <p:cNvPr id="156" name="Text 24"/>
          <p:cNvSpPr txBox="1"/>
          <p:nvPr/>
        </p:nvSpPr>
        <p:spPr>
          <a:xfrm>
            <a:off x="5755928" y="2628353"/>
            <a:ext cx="204529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Socket.io server URL (default: http://localhost:5000)</a:t>
            </a:r>
          </a:p>
        </p:txBody>
      </p:sp>
      <p:sp>
        <p:nvSpPr>
          <p:cNvPr id="157" name="Text 26"/>
          <p:cNvSpPr txBox="1"/>
          <p:nvPr/>
        </p:nvSpPr>
        <p:spPr>
          <a:xfrm>
            <a:off x="457199" y="4808016"/>
            <a:ext cx="9063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Prerequisites / MeetSpace</a:t>
            </a:r>
          </a:p>
        </p:txBody>
      </p:sp>
      <p:sp>
        <p:nvSpPr>
          <p:cNvPr id="158" name="Text 27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59" name="Text 28"/>
          <p:cNvSpPr txBox="1"/>
          <p:nvPr/>
        </p:nvSpPr>
        <p:spPr>
          <a:xfrm>
            <a:off x="457199" y="231775"/>
            <a:ext cx="270606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Prerequisites &amp; Config</a:t>
            </a:r>
          </a:p>
        </p:txBody>
      </p:sp>
      <p:pic>
        <p:nvPicPr>
          <p:cNvPr id="16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1"/>
          <p:cNvSpPr/>
          <p:nvPr/>
        </p:nvSpPr>
        <p:spPr>
          <a:xfrm>
            <a:off x="364852" y="335197"/>
            <a:ext cx="2562226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165" name="Shape 3"/>
          <p:cNvSpPr/>
          <p:nvPr/>
        </p:nvSpPr>
        <p:spPr>
          <a:xfrm>
            <a:off x="456270" y="841065"/>
            <a:ext cx="3929063" cy="3324226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4"/>
          <p:cNvSpPr txBox="1"/>
          <p:nvPr/>
        </p:nvSpPr>
        <p:spPr>
          <a:xfrm>
            <a:off x="731489" y="1012403"/>
            <a:ext cx="36585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z="2500">
                <a:solidFill>
                  <a:srgbClr val="2F394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67" name="Text 5"/>
          <p:cNvSpPr txBox="1"/>
          <p:nvPr/>
        </p:nvSpPr>
        <p:spPr>
          <a:xfrm>
            <a:off x="731489" y="1486892"/>
            <a:ext cx="78763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z="9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server/server.js</a:t>
            </a:r>
          </a:p>
        </p:txBody>
      </p:sp>
      <p:sp>
        <p:nvSpPr>
          <p:cNvPr id="168" name="Text 6"/>
          <p:cNvSpPr txBox="1"/>
          <p:nvPr/>
        </p:nvSpPr>
        <p:spPr>
          <a:xfrm>
            <a:off x="731489" y="1734269"/>
            <a:ext cx="9625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pc="-8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Start the Backend First</a:t>
            </a:r>
          </a:p>
        </p:txBody>
      </p:sp>
      <p:sp>
        <p:nvSpPr>
          <p:cNvPr id="169" name="Shape 7"/>
          <p:cNvSpPr/>
          <p:nvPr/>
        </p:nvSpPr>
        <p:spPr>
          <a:xfrm>
            <a:off x="732494" y="1973734"/>
            <a:ext cx="3376614" cy="12701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8"/>
          <p:cNvSpPr txBox="1"/>
          <p:nvPr/>
        </p:nvSpPr>
        <p:spPr>
          <a:xfrm>
            <a:off x="731490" y="2099592"/>
            <a:ext cx="2923221" cy="447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Entry point for the entire backend. Initializes Express, connects to</a:t>
            </a:r>
          </a:p>
          <a:p>
            <a:pPr>
              <a:lnSpc>
                <a:spcPts val="1200"/>
              </a:lnSpc>
              <a:defRPr sz="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MongoDB, mounts all API routes, and starts the Socket.io signaling server</a:t>
            </a:r>
          </a:p>
          <a:p>
            <a:pPr>
              <a:lnSpc>
                <a:spcPts val="1200"/>
              </a:lnSpc>
              <a:defRPr sz="7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on port 5000.</a:t>
            </a:r>
          </a:p>
        </p:txBody>
      </p:sp>
      <p:sp>
        <p:nvSpPr>
          <p:cNvPr id="171" name="Shape 9"/>
          <p:cNvSpPr/>
          <p:nvPr/>
        </p:nvSpPr>
        <p:spPr>
          <a:xfrm>
            <a:off x="4749217" y="841065"/>
            <a:ext cx="3938588" cy="3324226"/>
          </a:xfrm>
          <a:prstGeom prst="rect">
            <a:avLst/>
          </a:prstGeom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0"/>
          <p:cNvSpPr txBox="1"/>
          <p:nvPr/>
        </p:nvSpPr>
        <p:spPr>
          <a:xfrm>
            <a:off x="5029200" y="1017166"/>
            <a:ext cx="36585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z="25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3" name="Text 11"/>
          <p:cNvSpPr txBox="1"/>
          <p:nvPr/>
        </p:nvSpPr>
        <p:spPr>
          <a:xfrm>
            <a:off x="5029200" y="1491654"/>
            <a:ext cx="91459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z="9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client/src/main.jsx</a:t>
            </a:r>
          </a:p>
        </p:txBody>
      </p:sp>
      <p:sp>
        <p:nvSpPr>
          <p:cNvPr id="174" name="Text 12"/>
          <p:cNvSpPr txBox="1"/>
          <p:nvPr/>
        </p:nvSpPr>
        <p:spPr>
          <a:xfrm>
            <a:off x="5029199" y="1739031"/>
            <a:ext cx="9968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pc="-8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Then Start the Frontend</a:t>
            </a:r>
          </a:p>
        </p:txBody>
      </p:sp>
      <p:sp>
        <p:nvSpPr>
          <p:cNvPr id="175" name="Shape 13"/>
          <p:cNvSpPr/>
          <p:nvPr/>
        </p:nvSpPr>
        <p:spPr>
          <a:xfrm>
            <a:off x="5030204" y="1978496"/>
            <a:ext cx="3376614" cy="12701"/>
          </a:xfrm>
          <a:prstGeom prst="rect">
            <a:avLst/>
          </a:prstGeom>
          <a:solidFill>
            <a:srgbClr val="E2E8F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14"/>
          <p:cNvSpPr txBox="1"/>
          <p:nvPr/>
        </p:nvSpPr>
        <p:spPr>
          <a:xfrm>
            <a:off x="5029199" y="2104355"/>
            <a:ext cx="2834452" cy="447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2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Vite dev server entry point. Bootstraps React, loads AuthContext, and</a:t>
            </a:r>
          </a:p>
          <a:p>
            <a:pPr>
              <a:lnSpc>
                <a:spcPts val="12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renders the router. Requires the backend to be live first so API calls and</a:t>
            </a:r>
          </a:p>
          <a:p>
            <a:pPr>
              <a:lnSpc>
                <a:spcPts val="12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Socket.io connections succeed on load.</a:t>
            </a:r>
          </a:p>
        </p:txBody>
      </p:sp>
      <p:sp>
        <p:nvSpPr>
          <p:cNvPr id="177" name="Shape 15"/>
          <p:cNvSpPr/>
          <p:nvPr/>
        </p:nvSpPr>
        <p:spPr>
          <a:xfrm>
            <a:off x="457200" y="4197474"/>
            <a:ext cx="8229600" cy="328614"/>
          </a:xfrm>
          <a:prstGeom prst="rect">
            <a:avLst/>
          </a:prstGeom>
          <a:solidFill>
            <a:srgbClr val="FEF3C7"/>
          </a:solidFill>
          <a:ln w="4763">
            <a:solidFill>
              <a:srgbClr val="FCD34D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6"/>
          <p:cNvSpPr txBox="1"/>
          <p:nvPr/>
        </p:nvSpPr>
        <p:spPr>
          <a:xfrm>
            <a:off x="644797" y="4294783"/>
            <a:ext cx="5160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92400E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IMPORTANT</a:t>
            </a:r>
          </a:p>
        </p:txBody>
      </p:sp>
      <p:sp>
        <p:nvSpPr>
          <p:cNvPr id="179" name="Text 17"/>
          <p:cNvSpPr txBox="1"/>
          <p:nvPr/>
        </p:nvSpPr>
        <p:spPr>
          <a:xfrm>
            <a:off x="1211684" y="4295377"/>
            <a:ext cx="48705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78350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Never start the frontend before the backend — auth endpoints and Socket.io handshakes will fail immediately on page load.</a:t>
            </a:r>
          </a:p>
        </p:txBody>
      </p:sp>
      <p:sp>
        <p:nvSpPr>
          <p:cNvPr id="180" name="Text 19"/>
          <p:cNvSpPr txBox="1"/>
          <p:nvPr/>
        </p:nvSpPr>
        <p:spPr>
          <a:xfrm>
            <a:off x="457200" y="4808016"/>
            <a:ext cx="10122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Execution Order / MeetSpace</a:t>
            </a:r>
          </a:p>
        </p:txBody>
      </p:sp>
      <p:sp>
        <p:nvSpPr>
          <p:cNvPr id="181" name="Text 20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82" name="Text 21"/>
          <p:cNvSpPr txBox="1"/>
          <p:nvPr/>
        </p:nvSpPr>
        <p:spPr>
          <a:xfrm>
            <a:off x="457199" y="231775"/>
            <a:ext cx="196374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Execution Order</a:t>
            </a:r>
          </a:p>
        </p:txBody>
      </p:sp>
      <p:pic>
        <p:nvPicPr>
          <p:cNvPr id="18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1"/>
          <p:cNvSpPr/>
          <p:nvPr/>
        </p:nvSpPr>
        <p:spPr>
          <a:xfrm>
            <a:off x="366749" y="335197"/>
            <a:ext cx="2009776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188" name="Text 4"/>
          <p:cNvSpPr txBox="1"/>
          <p:nvPr/>
        </p:nvSpPr>
        <p:spPr>
          <a:xfrm>
            <a:off x="457200" y="892274"/>
            <a:ext cx="2330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189" name="Text 5"/>
          <p:cNvSpPr txBox="1"/>
          <p:nvPr/>
        </p:nvSpPr>
        <p:spPr>
          <a:xfrm>
            <a:off x="457199" y="1086420"/>
            <a:ext cx="87655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Start the Backend</a:t>
            </a:r>
          </a:p>
        </p:txBody>
      </p:sp>
      <p:sp>
        <p:nvSpPr>
          <p:cNvPr id="190" name="Shape 6"/>
          <p:cNvSpPr/>
          <p:nvPr/>
        </p:nvSpPr>
        <p:spPr>
          <a:xfrm>
            <a:off x="456270" y="1438758"/>
            <a:ext cx="2562226" cy="2933701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7"/>
          <p:cNvSpPr txBox="1"/>
          <p:nvPr/>
        </p:nvSpPr>
        <p:spPr>
          <a:xfrm>
            <a:off x="621729" y="1592435"/>
            <a:ext cx="4524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cd server</a:t>
            </a:r>
          </a:p>
        </p:txBody>
      </p:sp>
      <p:sp>
        <p:nvSpPr>
          <p:cNvPr id="192" name="Text 8"/>
          <p:cNvSpPr txBox="1"/>
          <p:nvPr/>
        </p:nvSpPr>
        <p:spPr>
          <a:xfrm>
            <a:off x="621728" y="1775346"/>
            <a:ext cx="5117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npm install</a:t>
            </a:r>
          </a:p>
        </p:txBody>
      </p:sp>
      <p:sp>
        <p:nvSpPr>
          <p:cNvPr id="193" name="Text 9"/>
          <p:cNvSpPr txBox="1"/>
          <p:nvPr/>
        </p:nvSpPr>
        <p:spPr>
          <a:xfrm>
            <a:off x="621728" y="1958255"/>
            <a:ext cx="920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cp .env.example .env</a:t>
            </a:r>
          </a:p>
        </p:txBody>
      </p:sp>
      <p:sp>
        <p:nvSpPr>
          <p:cNvPr id="194" name="Text 10"/>
          <p:cNvSpPr txBox="1"/>
          <p:nvPr/>
        </p:nvSpPr>
        <p:spPr>
          <a:xfrm>
            <a:off x="621729" y="2126878"/>
            <a:ext cx="1232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# set MONGO_URI, JWT_SECRET,</a:t>
            </a:r>
          </a:p>
        </p:txBody>
      </p:sp>
      <p:sp>
        <p:nvSpPr>
          <p:cNvPr id="195" name="Text 11"/>
          <p:cNvSpPr txBox="1"/>
          <p:nvPr/>
        </p:nvSpPr>
        <p:spPr>
          <a:xfrm>
            <a:off x="621728" y="2282254"/>
            <a:ext cx="99076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# JWT_REFRESH_SECRET</a:t>
            </a:r>
          </a:p>
        </p:txBody>
      </p:sp>
      <p:sp>
        <p:nvSpPr>
          <p:cNvPr id="196" name="Text 12"/>
          <p:cNvSpPr txBox="1"/>
          <p:nvPr/>
        </p:nvSpPr>
        <p:spPr>
          <a:xfrm>
            <a:off x="621728" y="2451917"/>
            <a:ext cx="581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npm run dev</a:t>
            </a:r>
          </a:p>
        </p:txBody>
      </p:sp>
      <p:sp>
        <p:nvSpPr>
          <p:cNvPr id="197" name="Text 13"/>
          <p:cNvSpPr txBox="1"/>
          <p:nvPr/>
        </p:nvSpPr>
        <p:spPr>
          <a:xfrm>
            <a:off x="621729" y="2679104"/>
            <a:ext cx="7921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→ http://localhost:5000</a:t>
            </a:r>
          </a:p>
        </p:txBody>
      </p:sp>
      <p:sp>
        <p:nvSpPr>
          <p:cNvPr id="198" name="Text 15"/>
          <p:cNvSpPr txBox="1"/>
          <p:nvPr/>
        </p:nvSpPr>
        <p:spPr>
          <a:xfrm>
            <a:off x="3291854" y="892274"/>
            <a:ext cx="2330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199" name="Text 16"/>
          <p:cNvSpPr txBox="1"/>
          <p:nvPr/>
        </p:nvSpPr>
        <p:spPr>
          <a:xfrm>
            <a:off x="3291854" y="1086420"/>
            <a:ext cx="89321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Start the Frontend</a:t>
            </a:r>
          </a:p>
        </p:txBody>
      </p:sp>
      <p:sp>
        <p:nvSpPr>
          <p:cNvPr id="200" name="Shape 17"/>
          <p:cNvSpPr/>
          <p:nvPr/>
        </p:nvSpPr>
        <p:spPr>
          <a:xfrm>
            <a:off x="3290925" y="1438758"/>
            <a:ext cx="2562226" cy="2933701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8"/>
          <p:cNvSpPr txBox="1"/>
          <p:nvPr/>
        </p:nvSpPr>
        <p:spPr>
          <a:xfrm>
            <a:off x="3456383" y="1592435"/>
            <a:ext cx="9119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# new terminal window</a:t>
            </a:r>
          </a:p>
        </p:txBody>
      </p:sp>
      <p:sp>
        <p:nvSpPr>
          <p:cNvPr id="202" name="Text 19"/>
          <p:cNvSpPr txBox="1"/>
          <p:nvPr/>
        </p:nvSpPr>
        <p:spPr>
          <a:xfrm>
            <a:off x="3456383" y="1775346"/>
            <a:ext cx="4129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cd client</a:t>
            </a:r>
          </a:p>
        </p:txBody>
      </p:sp>
      <p:sp>
        <p:nvSpPr>
          <p:cNvPr id="203" name="Text 20"/>
          <p:cNvSpPr txBox="1"/>
          <p:nvPr/>
        </p:nvSpPr>
        <p:spPr>
          <a:xfrm>
            <a:off x="3456383" y="1958255"/>
            <a:ext cx="5117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npm install</a:t>
            </a:r>
          </a:p>
        </p:txBody>
      </p:sp>
      <p:sp>
        <p:nvSpPr>
          <p:cNvPr id="204" name="Text 21"/>
          <p:cNvSpPr txBox="1"/>
          <p:nvPr/>
        </p:nvSpPr>
        <p:spPr>
          <a:xfrm>
            <a:off x="3456383" y="2141164"/>
            <a:ext cx="9203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cp .env.example .env</a:t>
            </a:r>
          </a:p>
        </p:txBody>
      </p:sp>
      <p:sp>
        <p:nvSpPr>
          <p:cNvPr id="205" name="Text 22"/>
          <p:cNvSpPr txBox="1"/>
          <p:nvPr/>
        </p:nvSpPr>
        <p:spPr>
          <a:xfrm>
            <a:off x="3456383" y="2309787"/>
            <a:ext cx="614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# defaults point to</a:t>
            </a:r>
          </a:p>
        </p:txBody>
      </p:sp>
      <p:sp>
        <p:nvSpPr>
          <p:cNvPr id="206" name="Text 23"/>
          <p:cNvSpPr txBox="1"/>
          <p:nvPr/>
        </p:nvSpPr>
        <p:spPr>
          <a:xfrm>
            <a:off x="3456383" y="2465164"/>
            <a:ext cx="5676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# localhost:5000</a:t>
            </a:r>
          </a:p>
        </p:txBody>
      </p:sp>
      <p:sp>
        <p:nvSpPr>
          <p:cNvPr id="207" name="Text 24"/>
          <p:cNvSpPr txBox="1"/>
          <p:nvPr/>
        </p:nvSpPr>
        <p:spPr>
          <a:xfrm>
            <a:off x="3456383" y="2634828"/>
            <a:ext cx="581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$ npm run dev</a:t>
            </a:r>
          </a:p>
        </p:txBody>
      </p:sp>
      <p:sp>
        <p:nvSpPr>
          <p:cNvPr id="208" name="Text 25"/>
          <p:cNvSpPr txBox="1"/>
          <p:nvPr/>
        </p:nvSpPr>
        <p:spPr>
          <a:xfrm>
            <a:off x="3456383" y="2862014"/>
            <a:ext cx="7921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→ http://localhost:5173</a:t>
            </a:r>
          </a:p>
        </p:txBody>
      </p:sp>
      <p:sp>
        <p:nvSpPr>
          <p:cNvPr id="209" name="Text 27"/>
          <p:cNvSpPr txBox="1"/>
          <p:nvPr/>
        </p:nvSpPr>
        <p:spPr>
          <a:xfrm>
            <a:off x="6126510" y="892274"/>
            <a:ext cx="2330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Step 3</a:t>
            </a:r>
          </a:p>
        </p:txBody>
      </p:sp>
      <p:sp>
        <p:nvSpPr>
          <p:cNvPr id="210" name="Text 28"/>
          <p:cNvSpPr txBox="1"/>
          <p:nvPr/>
        </p:nvSpPr>
        <p:spPr>
          <a:xfrm>
            <a:off x="6126510" y="1086420"/>
            <a:ext cx="9800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800"/>
              </a:spcBef>
              <a:defRPr b="1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Test with Two Users</a:t>
            </a:r>
          </a:p>
        </p:txBody>
      </p:sp>
      <p:sp>
        <p:nvSpPr>
          <p:cNvPr id="211" name="Shape 29"/>
          <p:cNvSpPr/>
          <p:nvPr/>
        </p:nvSpPr>
        <p:spPr>
          <a:xfrm>
            <a:off x="6125579" y="1438758"/>
            <a:ext cx="2562226" cy="2933701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Text 30"/>
          <p:cNvSpPr txBox="1"/>
          <p:nvPr/>
        </p:nvSpPr>
        <p:spPr>
          <a:xfrm>
            <a:off x="6295802" y="1573385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1.</a:t>
            </a:r>
          </a:p>
        </p:txBody>
      </p:sp>
      <p:sp>
        <p:nvSpPr>
          <p:cNvPr id="213" name="Text 31"/>
          <p:cNvSpPr txBox="1"/>
          <p:nvPr/>
        </p:nvSpPr>
        <p:spPr>
          <a:xfrm>
            <a:off x="6496868" y="1582116"/>
            <a:ext cx="1198570" cy="27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1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Open two browser windows at</a:t>
            </a:r>
          </a:p>
          <a:p>
            <a:pPr>
              <a:lnSpc>
                <a:spcPts val="11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localhost:5173</a:t>
            </a:r>
          </a:p>
        </p:txBody>
      </p:sp>
      <p:sp>
        <p:nvSpPr>
          <p:cNvPr id="214" name="Text 32"/>
          <p:cNvSpPr txBox="1"/>
          <p:nvPr/>
        </p:nvSpPr>
        <p:spPr>
          <a:xfrm>
            <a:off x="6295802" y="1964208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2.</a:t>
            </a:r>
          </a:p>
        </p:txBody>
      </p:sp>
      <p:sp>
        <p:nvSpPr>
          <p:cNvPr id="215" name="Text 33"/>
          <p:cNvSpPr txBox="1"/>
          <p:nvPr/>
        </p:nvSpPr>
        <p:spPr>
          <a:xfrm>
            <a:off x="6496868" y="1968971"/>
            <a:ext cx="122843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Sign up two separate accounts</a:t>
            </a:r>
          </a:p>
        </p:txBody>
      </p:sp>
      <p:sp>
        <p:nvSpPr>
          <p:cNvPr id="216" name="Text 34"/>
          <p:cNvSpPr txBox="1"/>
          <p:nvPr/>
        </p:nvSpPr>
        <p:spPr>
          <a:xfrm>
            <a:off x="6295802" y="2211039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3.</a:t>
            </a:r>
          </a:p>
        </p:txBody>
      </p:sp>
      <p:sp>
        <p:nvSpPr>
          <p:cNvPr id="217" name="Text 35"/>
          <p:cNvSpPr txBox="1"/>
          <p:nvPr/>
        </p:nvSpPr>
        <p:spPr>
          <a:xfrm>
            <a:off x="6496868" y="2215802"/>
            <a:ext cx="118385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Create a meeting in window 1</a:t>
            </a:r>
          </a:p>
        </p:txBody>
      </p:sp>
      <p:sp>
        <p:nvSpPr>
          <p:cNvPr id="218" name="Text 36"/>
          <p:cNvSpPr txBox="1"/>
          <p:nvPr/>
        </p:nvSpPr>
        <p:spPr>
          <a:xfrm>
            <a:off x="6295802" y="2457871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4.</a:t>
            </a:r>
          </a:p>
        </p:txBody>
      </p:sp>
      <p:sp>
        <p:nvSpPr>
          <p:cNvPr id="219" name="Text 37"/>
          <p:cNvSpPr txBox="1"/>
          <p:nvPr/>
        </p:nvSpPr>
        <p:spPr>
          <a:xfrm>
            <a:off x="6496868" y="2462633"/>
            <a:ext cx="14407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Join with the room code in window 2</a:t>
            </a:r>
          </a:p>
        </p:txBody>
      </p:sp>
      <p:sp>
        <p:nvSpPr>
          <p:cNvPr id="220" name="Text 39"/>
          <p:cNvSpPr txBox="1"/>
          <p:nvPr/>
        </p:nvSpPr>
        <p:spPr>
          <a:xfrm>
            <a:off x="457200" y="4808016"/>
            <a:ext cx="10038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Running Locally / MeetSpace</a:t>
            </a:r>
          </a:p>
        </p:txBody>
      </p:sp>
      <p:sp>
        <p:nvSpPr>
          <p:cNvPr id="221" name="Text 40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222" name="Text 41"/>
          <p:cNvSpPr txBox="1"/>
          <p:nvPr/>
        </p:nvSpPr>
        <p:spPr>
          <a:xfrm>
            <a:off x="457200" y="231775"/>
            <a:ext cx="196322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Running Locally</a:t>
            </a:r>
          </a:p>
        </p:txBody>
      </p:sp>
      <p:pic>
        <p:nvPicPr>
          <p:cNvPr id="22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6270" y="788677"/>
            <a:ext cx="2562226" cy="547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90925" y="788677"/>
            <a:ext cx="2562226" cy="547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125579" y="788677"/>
            <a:ext cx="2562226" cy="5476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Shape 1"/>
          <p:cNvSpPr/>
          <p:nvPr/>
        </p:nvSpPr>
        <p:spPr>
          <a:xfrm>
            <a:off x="366265" y="335197"/>
            <a:ext cx="1462089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231" name="Shape 3"/>
          <p:cNvSpPr/>
          <p:nvPr/>
        </p:nvSpPr>
        <p:spPr>
          <a:xfrm>
            <a:off x="457200" y="738039"/>
            <a:ext cx="8229600" cy="238126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4"/>
          <p:cNvSpPr txBox="1"/>
          <p:nvPr/>
        </p:nvSpPr>
        <p:spPr>
          <a:xfrm>
            <a:off x="594345" y="790103"/>
            <a:ext cx="3802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233" name="Text 5"/>
          <p:cNvSpPr txBox="1"/>
          <p:nvPr/>
        </p:nvSpPr>
        <p:spPr>
          <a:xfrm>
            <a:off x="1508670" y="790103"/>
            <a:ext cx="4562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ENDPOINT</a:t>
            </a:r>
          </a:p>
        </p:txBody>
      </p:sp>
      <p:sp>
        <p:nvSpPr>
          <p:cNvPr id="234" name="Text 6"/>
          <p:cNvSpPr txBox="1"/>
          <p:nvPr/>
        </p:nvSpPr>
        <p:spPr>
          <a:xfrm>
            <a:off x="3886051" y="790103"/>
            <a:ext cx="2492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AUTH</a:t>
            </a:r>
          </a:p>
        </p:txBody>
      </p:sp>
      <p:sp>
        <p:nvSpPr>
          <p:cNvPr id="235" name="Text 7"/>
          <p:cNvSpPr txBox="1"/>
          <p:nvPr/>
        </p:nvSpPr>
        <p:spPr>
          <a:xfrm>
            <a:off x="4526086" y="790103"/>
            <a:ext cx="6019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236" name="Shape 8"/>
          <p:cNvSpPr/>
          <p:nvPr/>
        </p:nvSpPr>
        <p:spPr>
          <a:xfrm>
            <a:off x="457200" y="977279"/>
            <a:ext cx="8229600" cy="2476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7" name="Text 9"/>
          <p:cNvSpPr txBox="1"/>
          <p:nvPr/>
        </p:nvSpPr>
        <p:spPr>
          <a:xfrm>
            <a:off x="594345" y="1032024"/>
            <a:ext cx="2201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59669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38" name="Text 10"/>
          <p:cNvSpPr txBox="1"/>
          <p:nvPr/>
        </p:nvSpPr>
        <p:spPr>
          <a:xfrm>
            <a:off x="1508670" y="1032024"/>
            <a:ext cx="58029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/api/auth/register</a:t>
            </a:r>
          </a:p>
        </p:txBody>
      </p:sp>
      <p:sp>
        <p:nvSpPr>
          <p:cNvPr id="239" name="Text 11"/>
          <p:cNvSpPr txBox="1"/>
          <p:nvPr/>
        </p:nvSpPr>
        <p:spPr>
          <a:xfrm>
            <a:off x="3886051" y="1032023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40" name="Text 12"/>
          <p:cNvSpPr txBox="1"/>
          <p:nvPr/>
        </p:nvSpPr>
        <p:spPr>
          <a:xfrm>
            <a:off x="4526086" y="1032023"/>
            <a:ext cx="52947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Create account</a:t>
            </a:r>
          </a:p>
        </p:txBody>
      </p:sp>
      <p:sp>
        <p:nvSpPr>
          <p:cNvPr id="241" name="Shape 13"/>
          <p:cNvSpPr/>
          <p:nvPr/>
        </p:nvSpPr>
        <p:spPr>
          <a:xfrm>
            <a:off x="457200" y="1225375"/>
            <a:ext cx="8229600" cy="247651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14"/>
          <p:cNvSpPr txBox="1"/>
          <p:nvPr/>
        </p:nvSpPr>
        <p:spPr>
          <a:xfrm>
            <a:off x="594345" y="1280120"/>
            <a:ext cx="2201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59669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43" name="Text 15"/>
          <p:cNvSpPr txBox="1"/>
          <p:nvPr/>
        </p:nvSpPr>
        <p:spPr>
          <a:xfrm>
            <a:off x="1508670" y="1280120"/>
            <a:ext cx="4872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/api/auth/login</a:t>
            </a:r>
          </a:p>
        </p:txBody>
      </p:sp>
      <p:sp>
        <p:nvSpPr>
          <p:cNvPr id="244" name="Text 16"/>
          <p:cNvSpPr txBox="1"/>
          <p:nvPr/>
        </p:nvSpPr>
        <p:spPr>
          <a:xfrm>
            <a:off x="3886051" y="1280120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45" name="Text 17"/>
          <p:cNvSpPr txBox="1"/>
          <p:nvPr/>
        </p:nvSpPr>
        <p:spPr>
          <a:xfrm>
            <a:off x="4526086" y="1280120"/>
            <a:ext cx="13363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 in, receive access + refresh tokens</a:t>
            </a:r>
          </a:p>
        </p:txBody>
      </p:sp>
      <p:sp>
        <p:nvSpPr>
          <p:cNvPr id="246" name="Shape 18"/>
          <p:cNvSpPr/>
          <p:nvPr/>
        </p:nvSpPr>
        <p:spPr>
          <a:xfrm>
            <a:off x="457200" y="1473473"/>
            <a:ext cx="8229600" cy="2476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7" name="Text 19"/>
          <p:cNvSpPr txBox="1"/>
          <p:nvPr/>
        </p:nvSpPr>
        <p:spPr>
          <a:xfrm>
            <a:off x="594345" y="1528216"/>
            <a:ext cx="2201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59669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48" name="Text 20"/>
          <p:cNvSpPr txBox="1"/>
          <p:nvPr/>
        </p:nvSpPr>
        <p:spPr>
          <a:xfrm>
            <a:off x="1508670" y="1528216"/>
            <a:ext cx="5633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/api/auth/refresh</a:t>
            </a:r>
          </a:p>
        </p:txBody>
      </p:sp>
      <p:sp>
        <p:nvSpPr>
          <p:cNvPr id="249" name="Text 21"/>
          <p:cNvSpPr txBox="1"/>
          <p:nvPr/>
        </p:nvSpPr>
        <p:spPr>
          <a:xfrm>
            <a:off x="3886051" y="15282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—</a:t>
            </a:r>
          </a:p>
        </p:txBody>
      </p:sp>
      <p:sp>
        <p:nvSpPr>
          <p:cNvPr id="250" name="Text 22"/>
          <p:cNvSpPr txBox="1"/>
          <p:nvPr/>
        </p:nvSpPr>
        <p:spPr>
          <a:xfrm>
            <a:off x="4526086" y="1528216"/>
            <a:ext cx="70311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Rotate access token</a:t>
            </a:r>
          </a:p>
        </p:txBody>
      </p:sp>
      <p:sp>
        <p:nvSpPr>
          <p:cNvPr id="251" name="Shape 23"/>
          <p:cNvSpPr/>
          <p:nvPr/>
        </p:nvSpPr>
        <p:spPr>
          <a:xfrm>
            <a:off x="457200" y="1721568"/>
            <a:ext cx="8229600" cy="247651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24"/>
          <p:cNvSpPr txBox="1"/>
          <p:nvPr/>
        </p:nvSpPr>
        <p:spPr>
          <a:xfrm>
            <a:off x="594345" y="1776313"/>
            <a:ext cx="1693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3B82F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253" name="Text 25"/>
          <p:cNvSpPr txBox="1"/>
          <p:nvPr/>
        </p:nvSpPr>
        <p:spPr>
          <a:xfrm>
            <a:off x="1508671" y="1776313"/>
            <a:ext cx="4320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/api/auth/me</a:t>
            </a:r>
          </a:p>
        </p:txBody>
      </p:sp>
      <p:sp>
        <p:nvSpPr>
          <p:cNvPr id="254" name="Text 26"/>
          <p:cNvSpPr txBox="1"/>
          <p:nvPr/>
        </p:nvSpPr>
        <p:spPr>
          <a:xfrm>
            <a:off x="3886051" y="1776313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55" name="Text 27"/>
          <p:cNvSpPr txBox="1"/>
          <p:nvPr/>
        </p:nvSpPr>
        <p:spPr>
          <a:xfrm>
            <a:off x="4526086" y="1776313"/>
            <a:ext cx="6649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Current user profile</a:t>
            </a:r>
          </a:p>
        </p:txBody>
      </p:sp>
      <p:sp>
        <p:nvSpPr>
          <p:cNvPr id="256" name="Shape 28"/>
          <p:cNvSpPr/>
          <p:nvPr/>
        </p:nvSpPr>
        <p:spPr>
          <a:xfrm>
            <a:off x="457200" y="1969666"/>
            <a:ext cx="8229600" cy="2476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29"/>
          <p:cNvSpPr txBox="1"/>
          <p:nvPr/>
        </p:nvSpPr>
        <p:spPr>
          <a:xfrm>
            <a:off x="594345" y="2024409"/>
            <a:ext cx="2201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59669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58" name="Text 30"/>
          <p:cNvSpPr txBox="1"/>
          <p:nvPr/>
        </p:nvSpPr>
        <p:spPr>
          <a:xfrm>
            <a:off x="1508670" y="2024409"/>
            <a:ext cx="3684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/api/rooms</a:t>
            </a:r>
          </a:p>
        </p:txBody>
      </p:sp>
      <p:sp>
        <p:nvSpPr>
          <p:cNvPr id="259" name="Text 31"/>
          <p:cNvSpPr txBox="1"/>
          <p:nvPr/>
        </p:nvSpPr>
        <p:spPr>
          <a:xfrm>
            <a:off x="3886051" y="2024409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60" name="Text 32"/>
          <p:cNvSpPr txBox="1"/>
          <p:nvPr/>
        </p:nvSpPr>
        <p:spPr>
          <a:xfrm>
            <a:off x="4526086" y="2024409"/>
            <a:ext cx="79200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Create a meeting room</a:t>
            </a:r>
          </a:p>
        </p:txBody>
      </p:sp>
      <p:sp>
        <p:nvSpPr>
          <p:cNvPr id="261" name="Shape 33"/>
          <p:cNvSpPr/>
          <p:nvPr/>
        </p:nvSpPr>
        <p:spPr>
          <a:xfrm>
            <a:off x="457200" y="2217761"/>
            <a:ext cx="8229600" cy="247651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34"/>
          <p:cNvSpPr txBox="1"/>
          <p:nvPr/>
        </p:nvSpPr>
        <p:spPr>
          <a:xfrm>
            <a:off x="594345" y="2272506"/>
            <a:ext cx="1693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3B82F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263" name="Text 35"/>
          <p:cNvSpPr txBox="1"/>
          <p:nvPr/>
        </p:nvSpPr>
        <p:spPr>
          <a:xfrm>
            <a:off x="1508670" y="2272506"/>
            <a:ext cx="4700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/api/rooms/:id</a:t>
            </a:r>
          </a:p>
        </p:txBody>
      </p:sp>
      <p:sp>
        <p:nvSpPr>
          <p:cNvPr id="264" name="Text 36"/>
          <p:cNvSpPr txBox="1"/>
          <p:nvPr/>
        </p:nvSpPr>
        <p:spPr>
          <a:xfrm>
            <a:off x="3886051" y="2272506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65" name="Text 37"/>
          <p:cNvSpPr txBox="1"/>
          <p:nvPr/>
        </p:nvSpPr>
        <p:spPr>
          <a:xfrm>
            <a:off x="4526086" y="2272506"/>
            <a:ext cx="9994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Get room by ID or room code</a:t>
            </a:r>
          </a:p>
        </p:txBody>
      </p:sp>
      <p:sp>
        <p:nvSpPr>
          <p:cNvPr id="266" name="Shape 38"/>
          <p:cNvSpPr/>
          <p:nvPr/>
        </p:nvSpPr>
        <p:spPr>
          <a:xfrm>
            <a:off x="457200" y="2465858"/>
            <a:ext cx="8229600" cy="2476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39"/>
          <p:cNvSpPr txBox="1"/>
          <p:nvPr/>
        </p:nvSpPr>
        <p:spPr>
          <a:xfrm>
            <a:off x="594345" y="2520602"/>
            <a:ext cx="31329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EF4444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DELETE</a:t>
            </a:r>
          </a:p>
        </p:txBody>
      </p:sp>
      <p:sp>
        <p:nvSpPr>
          <p:cNvPr id="268" name="Text 40"/>
          <p:cNvSpPr txBox="1"/>
          <p:nvPr/>
        </p:nvSpPr>
        <p:spPr>
          <a:xfrm>
            <a:off x="1508670" y="2520602"/>
            <a:ext cx="4700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/api/rooms/:id</a:t>
            </a:r>
          </a:p>
        </p:txBody>
      </p:sp>
      <p:sp>
        <p:nvSpPr>
          <p:cNvPr id="269" name="Text 41"/>
          <p:cNvSpPr txBox="1"/>
          <p:nvPr/>
        </p:nvSpPr>
        <p:spPr>
          <a:xfrm>
            <a:off x="3886051" y="2520602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70" name="Text 42"/>
          <p:cNvSpPr txBox="1"/>
          <p:nvPr/>
        </p:nvSpPr>
        <p:spPr>
          <a:xfrm>
            <a:off x="4526086" y="2520602"/>
            <a:ext cx="14401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End meeting, generate session (host only)</a:t>
            </a:r>
          </a:p>
        </p:txBody>
      </p:sp>
      <p:sp>
        <p:nvSpPr>
          <p:cNvPr id="271" name="Shape 43"/>
          <p:cNvSpPr/>
          <p:nvPr/>
        </p:nvSpPr>
        <p:spPr>
          <a:xfrm>
            <a:off x="457200" y="2713955"/>
            <a:ext cx="8229600" cy="247651"/>
          </a:xfrm>
          <a:prstGeom prst="rect">
            <a:avLst/>
          </a:prstGeom>
          <a:solidFill>
            <a:srgbClr val="F7FAF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44"/>
          <p:cNvSpPr txBox="1"/>
          <p:nvPr/>
        </p:nvSpPr>
        <p:spPr>
          <a:xfrm>
            <a:off x="594345" y="2768699"/>
            <a:ext cx="1693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3B82F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273" name="Text 45"/>
          <p:cNvSpPr txBox="1"/>
          <p:nvPr/>
        </p:nvSpPr>
        <p:spPr>
          <a:xfrm>
            <a:off x="1508671" y="2768699"/>
            <a:ext cx="8555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/api/rooms/reports/:id/pdf</a:t>
            </a:r>
          </a:p>
        </p:txBody>
      </p:sp>
      <p:sp>
        <p:nvSpPr>
          <p:cNvPr id="274" name="Text 46"/>
          <p:cNvSpPr txBox="1"/>
          <p:nvPr/>
        </p:nvSpPr>
        <p:spPr>
          <a:xfrm>
            <a:off x="3886051" y="2768699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75" name="Text 47"/>
          <p:cNvSpPr txBox="1"/>
          <p:nvPr/>
        </p:nvSpPr>
        <p:spPr>
          <a:xfrm>
            <a:off x="4526086" y="2768699"/>
            <a:ext cx="11265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Download session report as PDF</a:t>
            </a:r>
          </a:p>
        </p:txBody>
      </p:sp>
      <p:sp>
        <p:nvSpPr>
          <p:cNvPr id="276" name="Shape 48"/>
          <p:cNvSpPr/>
          <p:nvPr/>
        </p:nvSpPr>
        <p:spPr>
          <a:xfrm>
            <a:off x="457200" y="2962051"/>
            <a:ext cx="8229600" cy="24765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49"/>
          <p:cNvSpPr txBox="1"/>
          <p:nvPr/>
        </p:nvSpPr>
        <p:spPr>
          <a:xfrm>
            <a:off x="594345" y="3016796"/>
            <a:ext cx="2201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59669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278" name="Text 50"/>
          <p:cNvSpPr txBox="1"/>
          <p:nvPr/>
        </p:nvSpPr>
        <p:spPr>
          <a:xfrm>
            <a:off x="1508670" y="3016796"/>
            <a:ext cx="385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/api/upload</a:t>
            </a:r>
          </a:p>
        </p:txBody>
      </p:sp>
      <p:sp>
        <p:nvSpPr>
          <p:cNvPr id="279" name="Text 51"/>
          <p:cNvSpPr txBox="1"/>
          <p:nvPr/>
        </p:nvSpPr>
        <p:spPr>
          <a:xfrm>
            <a:off x="3886051" y="3016795"/>
            <a:ext cx="17354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</a:t>
            </a:r>
          </a:p>
        </p:txBody>
      </p:sp>
      <p:sp>
        <p:nvSpPr>
          <p:cNvPr id="280" name="Text 52"/>
          <p:cNvSpPr txBox="1"/>
          <p:nvPr/>
        </p:nvSpPr>
        <p:spPr>
          <a:xfrm>
            <a:off x="4526086" y="3016795"/>
            <a:ext cx="12874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Upload a chat file (multipart, field: file)</a:t>
            </a:r>
          </a:p>
        </p:txBody>
      </p:sp>
      <p:sp>
        <p:nvSpPr>
          <p:cNvPr id="281" name="Shape 53"/>
          <p:cNvSpPr/>
          <p:nvPr/>
        </p:nvSpPr>
        <p:spPr>
          <a:xfrm>
            <a:off x="457200" y="4116213"/>
            <a:ext cx="8229600" cy="409576"/>
          </a:xfrm>
          <a:prstGeom prst="rect">
            <a:avLst/>
          </a:prstGeom>
          <a:solidFill>
            <a:srgbClr val="F7FAFC"/>
          </a:solidFill>
          <a:ln w="4763">
            <a:solidFill>
              <a:srgbClr val="E2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54"/>
          <p:cNvSpPr txBox="1"/>
          <p:nvPr/>
        </p:nvSpPr>
        <p:spPr>
          <a:xfrm>
            <a:off x="644797" y="4254004"/>
            <a:ext cx="4794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49" sz="600">
                <a:solidFill>
                  <a:srgbClr val="718096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SOCKET.IO</a:t>
            </a:r>
          </a:p>
        </p:txBody>
      </p:sp>
      <p:sp>
        <p:nvSpPr>
          <p:cNvPr id="283" name="Text 55"/>
          <p:cNvSpPr txBox="1"/>
          <p:nvPr/>
        </p:nvSpPr>
        <p:spPr>
          <a:xfrm>
            <a:off x="1257448" y="4202310"/>
            <a:ext cx="4622057" cy="223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900"/>
              </a:lnSpc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pPr>
            <a:r>
              <a:t>join-room · send-offer / receive-offer · send-answer / receive-answer · ice-candidate · user-joined / user-left · chat-message · typing-start /</a:t>
            </a:r>
          </a:p>
          <a:p>
            <a:pPr>
              <a:lnSpc>
                <a:spcPts val="900"/>
              </a:lnSpc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pPr>
            <a:r>
              <a:t>typing-stop · draw-start / draw-move / draw-end · whiteboard-clear</a:t>
            </a:r>
          </a:p>
        </p:txBody>
      </p:sp>
      <p:sp>
        <p:nvSpPr>
          <p:cNvPr id="284" name="Text 57"/>
          <p:cNvSpPr txBox="1"/>
          <p:nvPr/>
        </p:nvSpPr>
        <p:spPr>
          <a:xfrm>
            <a:off x="457199" y="4808016"/>
            <a:ext cx="95723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API Reference / MeetSpace</a:t>
            </a:r>
          </a:p>
        </p:txBody>
      </p:sp>
      <p:sp>
        <p:nvSpPr>
          <p:cNvPr id="285" name="Text 58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86" name="Text 59"/>
          <p:cNvSpPr txBox="1"/>
          <p:nvPr/>
        </p:nvSpPr>
        <p:spPr>
          <a:xfrm>
            <a:off x="457199" y="231775"/>
            <a:ext cx="1713816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API Reference</a:t>
            </a:r>
          </a:p>
        </p:txBody>
      </p:sp>
      <p:pic>
        <p:nvPicPr>
          <p:cNvPr id="28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977279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225375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473473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721568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Image 4" descr="Imag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969666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Image 5" descr="Imag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217761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Image 6" descr="Imag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465858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Image 7" descr="Imag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713955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Image 8" descr="Imag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2962051"/>
            <a:ext cx="8229600" cy="2476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6" name="Image 9" descr="Image 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Shape 1"/>
          <p:cNvSpPr/>
          <p:nvPr/>
        </p:nvSpPr>
        <p:spPr>
          <a:xfrm>
            <a:off x="365819" y="335197"/>
            <a:ext cx="1828801" cy="152401"/>
          </a:xfrm>
          <a:prstGeom prst="rect">
            <a:avLst/>
          </a:prstGeom>
          <a:solidFill>
            <a:srgbClr val="0A1628">
              <a:alpha val="1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301" name="Text 3"/>
          <p:cNvSpPr txBox="1"/>
          <p:nvPr/>
        </p:nvSpPr>
        <p:spPr>
          <a:xfrm>
            <a:off x="457199" y="775890"/>
            <a:ext cx="19634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02" name="Text 4"/>
          <p:cNvSpPr txBox="1"/>
          <p:nvPr/>
        </p:nvSpPr>
        <p:spPr>
          <a:xfrm>
            <a:off x="791840" y="798958"/>
            <a:ext cx="11208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Database: MongoDB Atlas</a:t>
            </a:r>
          </a:p>
        </p:txBody>
      </p:sp>
      <p:sp>
        <p:nvSpPr>
          <p:cNvPr id="303" name="Text 5"/>
          <p:cNvSpPr txBox="1"/>
          <p:nvPr/>
        </p:nvSpPr>
        <p:spPr>
          <a:xfrm>
            <a:off x="791839" y="1000496"/>
            <a:ext cx="1910031" cy="503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Create a free cluster. Add a user with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username/password. Allow network access from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0.0.0.0/0. Copy the connection string into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MONGO_URI.</a:t>
            </a:r>
          </a:p>
        </p:txBody>
      </p:sp>
      <p:sp>
        <p:nvSpPr>
          <p:cNvPr id="304" name="Text 6"/>
          <p:cNvSpPr txBox="1"/>
          <p:nvPr/>
        </p:nvSpPr>
        <p:spPr>
          <a:xfrm>
            <a:off x="3291780" y="775890"/>
            <a:ext cx="1963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05" name="Text 7"/>
          <p:cNvSpPr txBox="1"/>
          <p:nvPr/>
        </p:nvSpPr>
        <p:spPr>
          <a:xfrm>
            <a:off x="3626420" y="798958"/>
            <a:ext cx="74386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Backend: Render</a:t>
            </a:r>
          </a:p>
        </p:txBody>
      </p:sp>
      <p:sp>
        <p:nvSpPr>
          <p:cNvPr id="306" name="Text 8"/>
          <p:cNvSpPr txBox="1"/>
          <p:nvPr/>
        </p:nvSpPr>
        <p:spPr>
          <a:xfrm>
            <a:off x="3626420" y="1000496"/>
            <a:ext cx="2039300" cy="37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New Web Service, root = server/. Build: npm install.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Start: npm start. Add all .env vars using real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generated secrets.</a:t>
            </a:r>
          </a:p>
        </p:txBody>
      </p:sp>
      <p:sp>
        <p:nvSpPr>
          <p:cNvPr id="307" name="Text 9"/>
          <p:cNvSpPr txBox="1"/>
          <p:nvPr/>
        </p:nvSpPr>
        <p:spPr>
          <a:xfrm>
            <a:off x="6126434" y="775890"/>
            <a:ext cx="19634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08" name="Text 10"/>
          <p:cNvSpPr txBox="1"/>
          <p:nvPr/>
        </p:nvSpPr>
        <p:spPr>
          <a:xfrm>
            <a:off x="6461074" y="798958"/>
            <a:ext cx="10600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Frontend: Vercel / Netlify</a:t>
            </a:r>
          </a:p>
        </p:txBody>
      </p:sp>
      <p:sp>
        <p:nvSpPr>
          <p:cNvPr id="309" name="Text 11"/>
          <p:cNvSpPr txBox="1"/>
          <p:nvPr/>
        </p:nvSpPr>
        <p:spPr>
          <a:xfrm>
            <a:off x="6461074" y="1000496"/>
            <a:ext cx="2036305" cy="37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Root = client/. Build: npm run build, output: dist. Set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VITE_API_URL and VITE_SOCKET_URL to the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Render backend URL.</a:t>
            </a:r>
          </a:p>
        </p:txBody>
      </p:sp>
      <p:sp>
        <p:nvSpPr>
          <p:cNvPr id="310" name="Text 12"/>
          <p:cNvSpPr txBox="1"/>
          <p:nvPr/>
        </p:nvSpPr>
        <p:spPr>
          <a:xfrm>
            <a:off x="457199" y="2700387"/>
            <a:ext cx="19634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11" name="Text 13"/>
          <p:cNvSpPr txBox="1"/>
          <p:nvPr/>
        </p:nvSpPr>
        <p:spPr>
          <a:xfrm>
            <a:off x="791839" y="2723455"/>
            <a:ext cx="4861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Wire CORS</a:t>
            </a:r>
          </a:p>
        </p:txBody>
      </p:sp>
      <p:sp>
        <p:nvSpPr>
          <p:cNvPr id="312" name="Text 14"/>
          <p:cNvSpPr txBox="1"/>
          <p:nvPr/>
        </p:nvSpPr>
        <p:spPr>
          <a:xfrm>
            <a:off x="791839" y="2924993"/>
            <a:ext cx="2089827" cy="37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Update CLIENT_URL on Render to match the Vercel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deployment URL, then redeploy the backend so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CORS and Socket.io accept frontend requests.</a:t>
            </a:r>
          </a:p>
        </p:txBody>
      </p:sp>
      <p:sp>
        <p:nvSpPr>
          <p:cNvPr id="313" name="Text 15"/>
          <p:cNvSpPr txBox="1"/>
          <p:nvPr/>
        </p:nvSpPr>
        <p:spPr>
          <a:xfrm>
            <a:off x="3291780" y="2700387"/>
            <a:ext cx="196342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314" name="Text 16"/>
          <p:cNvSpPr txBox="1"/>
          <p:nvPr/>
        </p:nvSpPr>
        <p:spPr>
          <a:xfrm>
            <a:off x="3626420" y="2723455"/>
            <a:ext cx="5611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TURN Server</a:t>
            </a:r>
          </a:p>
        </p:txBody>
      </p:sp>
      <p:sp>
        <p:nvSpPr>
          <p:cNvPr id="315" name="Text 17"/>
          <p:cNvSpPr txBox="1"/>
          <p:nvPr/>
        </p:nvSpPr>
        <p:spPr>
          <a:xfrm>
            <a:off x="3626420" y="2924993"/>
            <a:ext cx="1756930" cy="376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Add Metered or coturn entry to iceServers in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useWebRTC.js. Required for users behind</a:t>
            </a:r>
          </a:p>
          <a:p>
            <a:pPr>
              <a:lnSpc>
                <a:spcPts val="1000"/>
              </a:lnSpc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NAT/firewall on real networks.</a:t>
            </a:r>
          </a:p>
        </p:txBody>
      </p:sp>
      <p:sp>
        <p:nvSpPr>
          <p:cNvPr id="316" name="Text 18"/>
          <p:cNvSpPr txBox="1"/>
          <p:nvPr/>
        </p:nvSpPr>
        <p:spPr>
          <a:xfrm>
            <a:off x="6126434" y="2700387"/>
            <a:ext cx="19634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1300">
                <a:solidFill>
                  <a:srgbClr val="E2E8F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317" name="Text 19"/>
          <p:cNvSpPr txBox="1"/>
          <p:nvPr/>
        </p:nvSpPr>
        <p:spPr>
          <a:xfrm>
            <a:off x="6461074" y="2723455"/>
            <a:ext cx="25491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318" name="Text 20"/>
          <p:cNvSpPr txBox="1"/>
          <p:nvPr/>
        </p:nvSpPr>
        <p:spPr>
          <a:xfrm>
            <a:off x="6461074" y="2918643"/>
            <a:ext cx="196476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Open the frontend URL on two different networks.</a:t>
            </a:r>
          </a:p>
        </p:txBody>
      </p:sp>
      <p:sp>
        <p:nvSpPr>
          <p:cNvPr id="319" name="Text 21"/>
          <p:cNvSpPr txBox="1"/>
          <p:nvPr/>
        </p:nvSpPr>
        <p:spPr>
          <a:xfrm>
            <a:off x="6461075" y="3055789"/>
            <a:ext cx="20535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Sign up, create a meeting, and confirm peer-to-peer</a:t>
            </a:r>
          </a:p>
        </p:txBody>
      </p:sp>
      <p:sp>
        <p:nvSpPr>
          <p:cNvPr id="320" name="Text 22"/>
          <p:cNvSpPr txBox="1"/>
          <p:nvPr/>
        </p:nvSpPr>
        <p:spPr>
          <a:xfrm>
            <a:off x="6683647" y="3192933"/>
            <a:ext cx="13979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700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video connects via the TURN relay.</a:t>
            </a:r>
          </a:p>
        </p:txBody>
      </p:sp>
      <p:sp>
        <p:nvSpPr>
          <p:cNvPr id="321" name="Text 24"/>
          <p:cNvSpPr txBox="1"/>
          <p:nvPr/>
        </p:nvSpPr>
        <p:spPr>
          <a:xfrm>
            <a:off x="457199" y="4808016"/>
            <a:ext cx="8682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Deployment / MeetSpace</a:t>
            </a:r>
          </a:p>
        </p:txBody>
      </p:sp>
      <p:sp>
        <p:nvSpPr>
          <p:cNvPr id="322" name="Text 25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0A162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323" name="Text 26"/>
          <p:cNvSpPr txBox="1"/>
          <p:nvPr/>
        </p:nvSpPr>
        <p:spPr>
          <a:xfrm>
            <a:off x="457199" y="231775"/>
            <a:ext cx="2236775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0A1628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Deployment Guide</a:t>
            </a:r>
          </a:p>
        </p:txBody>
      </p:sp>
      <p:pic>
        <p:nvPicPr>
          <p:cNvPr id="32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7" name="Shape 1"/>
          <p:cNvSpPr/>
          <p:nvPr/>
        </p:nvSpPr>
        <p:spPr>
          <a:xfrm>
            <a:off x="364852" y="335197"/>
            <a:ext cx="2562226" cy="152401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2"/>
          <p:cNvSpPr txBox="1"/>
          <p:nvPr/>
        </p:nvSpPr>
        <p:spPr>
          <a:xfrm>
            <a:off x="8090296" y="274638"/>
            <a:ext cx="52409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17" sz="800">
                <a:solidFill>
                  <a:srgbClr val="B6B9B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MeetSpace</a:t>
            </a:r>
          </a:p>
        </p:txBody>
      </p:sp>
      <p:sp>
        <p:nvSpPr>
          <p:cNvPr id="329" name="Text 4"/>
          <p:cNvSpPr txBox="1"/>
          <p:nvPr/>
        </p:nvSpPr>
        <p:spPr>
          <a:xfrm>
            <a:off x="457199" y="885129"/>
            <a:ext cx="2395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VIDEO</a:t>
            </a:r>
          </a:p>
        </p:txBody>
      </p:sp>
      <p:sp>
        <p:nvSpPr>
          <p:cNvPr id="330" name="Text 5"/>
          <p:cNvSpPr txBox="1"/>
          <p:nvPr/>
        </p:nvSpPr>
        <p:spPr>
          <a:xfrm>
            <a:off x="457200" y="1093340"/>
            <a:ext cx="6334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Mesh WebRTC</a:t>
            </a:r>
          </a:p>
        </p:txBody>
      </p:sp>
      <p:sp>
        <p:nvSpPr>
          <p:cNvPr id="331" name="Text 6"/>
          <p:cNvSpPr txBox="1"/>
          <p:nvPr/>
        </p:nvSpPr>
        <p:spPr>
          <a:xfrm>
            <a:off x="457199" y="1294879"/>
            <a:ext cx="1742171" cy="24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Direct peer connections — no media server.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Works for up to 6-8 users per room.</a:t>
            </a:r>
          </a:p>
        </p:txBody>
      </p:sp>
      <p:sp>
        <p:nvSpPr>
          <p:cNvPr id="332" name="Text 8"/>
          <p:cNvSpPr txBox="1"/>
          <p:nvPr/>
        </p:nvSpPr>
        <p:spPr>
          <a:xfrm>
            <a:off x="2560290" y="885129"/>
            <a:ext cx="20892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AUTH</a:t>
            </a:r>
          </a:p>
        </p:txBody>
      </p:sp>
      <p:sp>
        <p:nvSpPr>
          <p:cNvPr id="333" name="Text 9"/>
          <p:cNvSpPr txBox="1"/>
          <p:nvPr/>
        </p:nvSpPr>
        <p:spPr>
          <a:xfrm>
            <a:off x="2560290" y="1093340"/>
            <a:ext cx="42421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JWT Auth</a:t>
            </a:r>
          </a:p>
        </p:txBody>
      </p:sp>
      <p:sp>
        <p:nvSpPr>
          <p:cNvPr id="334" name="Text 10"/>
          <p:cNvSpPr txBox="1"/>
          <p:nvPr/>
        </p:nvSpPr>
        <p:spPr>
          <a:xfrm>
            <a:off x="2560290" y="1294879"/>
            <a:ext cx="1618674" cy="24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Secure, stateless auth with refresh token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rotation. bcrypt password hashing.</a:t>
            </a:r>
          </a:p>
        </p:txBody>
      </p:sp>
      <p:sp>
        <p:nvSpPr>
          <p:cNvPr id="335" name="Text 12"/>
          <p:cNvSpPr txBox="1"/>
          <p:nvPr/>
        </p:nvSpPr>
        <p:spPr>
          <a:xfrm>
            <a:off x="4663380" y="885129"/>
            <a:ext cx="2042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CHAT</a:t>
            </a:r>
          </a:p>
        </p:txBody>
      </p:sp>
      <p:sp>
        <p:nvSpPr>
          <p:cNvPr id="336" name="Text 13"/>
          <p:cNvSpPr txBox="1"/>
          <p:nvPr/>
        </p:nvSpPr>
        <p:spPr>
          <a:xfrm>
            <a:off x="4663380" y="1093340"/>
            <a:ext cx="63513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Real-time Chat</a:t>
            </a:r>
          </a:p>
        </p:txBody>
      </p:sp>
      <p:sp>
        <p:nvSpPr>
          <p:cNvPr id="337" name="Text 14"/>
          <p:cNvSpPr txBox="1"/>
          <p:nvPr/>
        </p:nvSpPr>
        <p:spPr>
          <a:xfrm>
            <a:off x="4663380" y="1294879"/>
            <a:ext cx="1707661" cy="24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Text messages, file uploads via Multer, and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live typing indicators via Socket.io.</a:t>
            </a:r>
          </a:p>
        </p:txBody>
      </p:sp>
      <p:sp>
        <p:nvSpPr>
          <p:cNvPr id="338" name="Text 16"/>
          <p:cNvSpPr txBox="1"/>
          <p:nvPr/>
        </p:nvSpPr>
        <p:spPr>
          <a:xfrm>
            <a:off x="6766470" y="885129"/>
            <a:ext cx="3123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SCREEN</a:t>
            </a:r>
          </a:p>
        </p:txBody>
      </p:sp>
      <p:sp>
        <p:nvSpPr>
          <p:cNvPr id="339" name="Text 17"/>
          <p:cNvSpPr txBox="1"/>
          <p:nvPr/>
        </p:nvSpPr>
        <p:spPr>
          <a:xfrm>
            <a:off x="6766470" y="1093340"/>
            <a:ext cx="66486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Screen Sharing</a:t>
            </a:r>
          </a:p>
        </p:txBody>
      </p:sp>
      <p:sp>
        <p:nvSpPr>
          <p:cNvPr id="340" name="Text 18"/>
          <p:cNvSpPr txBox="1"/>
          <p:nvPr/>
        </p:nvSpPr>
        <p:spPr>
          <a:xfrm>
            <a:off x="6766470" y="1294879"/>
            <a:ext cx="1687780" cy="24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Native browser getDisplayMedia API — no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plugins required.</a:t>
            </a:r>
          </a:p>
        </p:txBody>
      </p:sp>
      <p:sp>
        <p:nvSpPr>
          <p:cNvPr id="341" name="Text 20"/>
          <p:cNvSpPr txBox="1"/>
          <p:nvPr/>
        </p:nvSpPr>
        <p:spPr>
          <a:xfrm>
            <a:off x="457199" y="2505348"/>
            <a:ext cx="50151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WHITEBOARD</a:t>
            </a:r>
          </a:p>
        </p:txBody>
      </p:sp>
      <p:sp>
        <p:nvSpPr>
          <p:cNvPr id="342" name="Text 21"/>
          <p:cNvSpPr txBox="1"/>
          <p:nvPr/>
        </p:nvSpPr>
        <p:spPr>
          <a:xfrm>
            <a:off x="457199" y="2713557"/>
            <a:ext cx="85742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Collaborative Board</a:t>
            </a:r>
          </a:p>
        </p:txBody>
      </p:sp>
      <p:sp>
        <p:nvSpPr>
          <p:cNvPr id="343" name="Text 22"/>
          <p:cNvSpPr txBox="1"/>
          <p:nvPr/>
        </p:nvSpPr>
        <p:spPr>
          <a:xfrm>
            <a:off x="457199" y="2915096"/>
            <a:ext cx="1465314" cy="376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Synchronized draw events across all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participants via Socket.io draw-start /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draw-move / draw-end.</a:t>
            </a:r>
          </a:p>
        </p:txBody>
      </p:sp>
      <p:sp>
        <p:nvSpPr>
          <p:cNvPr id="344" name="Text 24"/>
          <p:cNvSpPr txBox="1"/>
          <p:nvPr/>
        </p:nvSpPr>
        <p:spPr>
          <a:xfrm>
            <a:off x="2560290" y="2505348"/>
            <a:ext cx="3875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TRACKING</a:t>
            </a:r>
          </a:p>
        </p:txBody>
      </p:sp>
      <p:sp>
        <p:nvSpPr>
          <p:cNvPr id="345" name="Text 25"/>
          <p:cNvSpPr txBox="1"/>
          <p:nvPr/>
        </p:nvSpPr>
        <p:spPr>
          <a:xfrm>
            <a:off x="2560290" y="2713557"/>
            <a:ext cx="68439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Attendance Log</a:t>
            </a:r>
          </a:p>
        </p:txBody>
      </p:sp>
      <p:sp>
        <p:nvSpPr>
          <p:cNvPr id="346" name="Text 26"/>
          <p:cNvSpPr txBox="1"/>
          <p:nvPr/>
        </p:nvSpPr>
        <p:spPr>
          <a:xfrm>
            <a:off x="2560290" y="2915096"/>
            <a:ext cx="1667986" cy="249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Join/leave timestamps stored per user per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session in the Session schema.</a:t>
            </a:r>
          </a:p>
        </p:txBody>
      </p:sp>
      <p:sp>
        <p:nvSpPr>
          <p:cNvPr id="347" name="Text 28"/>
          <p:cNvSpPr txBox="1"/>
          <p:nvPr/>
        </p:nvSpPr>
        <p:spPr>
          <a:xfrm>
            <a:off x="4663380" y="2505348"/>
            <a:ext cx="3594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REPORTS</a:t>
            </a:r>
          </a:p>
        </p:txBody>
      </p:sp>
      <p:sp>
        <p:nvSpPr>
          <p:cNvPr id="348" name="Text 29"/>
          <p:cNvSpPr txBox="1"/>
          <p:nvPr/>
        </p:nvSpPr>
        <p:spPr>
          <a:xfrm>
            <a:off x="4663380" y="2713557"/>
            <a:ext cx="8672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PDF Session Report</a:t>
            </a:r>
          </a:p>
        </p:txBody>
      </p:sp>
      <p:sp>
        <p:nvSpPr>
          <p:cNvPr id="349" name="Text 30"/>
          <p:cNvSpPr txBox="1"/>
          <p:nvPr/>
        </p:nvSpPr>
        <p:spPr>
          <a:xfrm>
            <a:off x="4663380" y="2915096"/>
            <a:ext cx="1391389" cy="376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Duration, full attendance log, chat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transcript, and whiteboard notes —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downloadable PDF.</a:t>
            </a:r>
          </a:p>
        </p:txBody>
      </p:sp>
      <p:sp>
        <p:nvSpPr>
          <p:cNvPr id="350" name="Text 32"/>
          <p:cNvSpPr txBox="1"/>
          <p:nvPr/>
        </p:nvSpPr>
        <p:spPr>
          <a:xfrm>
            <a:off x="6766470" y="2505348"/>
            <a:ext cx="46284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600"/>
              </a:spcBef>
              <a:defRPr spc="46" sz="500">
                <a:solidFill>
                  <a:srgbClr val="A0AEC0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EXTENSIBLE</a:t>
            </a:r>
          </a:p>
        </p:txBody>
      </p:sp>
      <p:sp>
        <p:nvSpPr>
          <p:cNvPr id="351" name="Text 33"/>
          <p:cNvSpPr txBox="1"/>
          <p:nvPr/>
        </p:nvSpPr>
        <p:spPr>
          <a:xfrm>
            <a:off x="6766470" y="2713557"/>
            <a:ext cx="4275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spcBef>
                <a:spcPts val="400"/>
              </a:spcBef>
              <a:defRPr b="1" sz="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Add Later</a:t>
            </a:r>
          </a:p>
        </p:txBody>
      </p:sp>
      <p:sp>
        <p:nvSpPr>
          <p:cNvPr id="352" name="Text 34"/>
          <p:cNvSpPr txBox="1"/>
          <p:nvPr/>
        </p:nvSpPr>
        <p:spPr>
          <a:xfrm>
            <a:off x="6766470" y="2915096"/>
            <a:ext cx="1752111" cy="376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Simulcast, server recording, email reports,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Redux, test suites, monitoring — all addable</a:t>
            </a:r>
          </a:p>
          <a:p>
            <a:pPr>
              <a:lnSpc>
                <a:spcPts val="1000"/>
              </a:lnSpc>
              <a:defRPr sz="700">
                <a:solidFill>
                  <a:srgbClr val="718096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without restructuring.</a:t>
            </a:r>
          </a:p>
        </p:txBody>
      </p:sp>
      <p:sp>
        <p:nvSpPr>
          <p:cNvPr id="353" name="Text 36"/>
          <p:cNvSpPr txBox="1"/>
          <p:nvPr/>
        </p:nvSpPr>
        <p:spPr>
          <a:xfrm>
            <a:off x="457200" y="4808016"/>
            <a:ext cx="7623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600">
                <a:solidFill>
                  <a:srgbClr val="4A5568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Features / MeetSpace</a:t>
            </a:r>
          </a:p>
        </p:txBody>
      </p:sp>
      <p:sp>
        <p:nvSpPr>
          <p:cNvPr id="354" name="Text 37"/>
          <p:cNvSpPr txBox="1"/>
          <p:nvPr/>
        </p:nvSpPr>
        <p:spPr>
          <a:xfrm>
            <a:off x="8588126" y="4808016"/>
            <a:ext cx="127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z="600">
                <a:solidFill>
                  <a:srgbClr val="FFFFFF"/>
                </a:solidFill>
                <a:latin typeface="DM Mono"/>
                <a:ea typeface="DM Mono"/>
                <a:cs typeface="DM Mono"/>
                <a:sym typeface="DM Mono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55" name="Text 38"/>
          <p:cNvSpPr txBox="1"/>
          <p:nvPr/>
        </p:nvSpPr>
        <p:spPr>
          <a:xfrm>
            <a:off x="457199" y="231775"/>
            <a:ext cx="2986853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b="1" spc="-65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Key Features at a Glance</a:t>
            </a:r>
          </a:p>
        </p:txBody>
      </p:sp>
      <p:pic>
        <p:nvPicPr>
          <p:cNvPr id="3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683" y="787710"/>
            <a:ext cx="1919288" cy="1519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7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60773" y="787710"/>
            <a:ext cx="1919288" cy="1519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8" name="Image 2" descr="Imag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63864" y="787710"/>
            <a:ext cx="1919288" cy="1519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9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766992" y="787710"/>
            <a:ext cx="1919288" cy="1519238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Image 4" descr="Imag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683" y="2409825"/>
            <a:ext cx="1919288" cy="1652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Image 5" descr="Imag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60773" y="2409825"/>
            <a:ext cx="1919288" cy="1652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Image 6" descr="Imag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63864" y="2409825"/>
            <a:ext cx="1919288" cy="1652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3" name="Image 7" descr="Imag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766992" y="2409825"/>
            <a:ext cx="1919288" cy="1652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64" name="Image 8" descr="Imag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57200" y="4705610"/>
            <a:ext cx="8229600" cy="233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